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64" r:id="rId7"/>
    <p:sldId id="265" r:id="rId8"/>
    <p:sldId id="266" r:id="rId9"/>
    <p:sldId id="267" r:id="rId10"/>
    <p:sldId id="271" r:id="rId11"/>
    <p:sldId id="270" r:id="rId12"/>
    <p:sldId id="268"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63" d="100"/>
          <a:sy n="63" d="100"/>
        </p:scale>
        <p:origin x="5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latin typeface="Calibri"/>
              </a:rPr>
              <a:t>Macro-F1 of the classifiers</a:t>
            </a:r>
          </a:p>
        </c:rich>
      </c:tx>
      <c:overlay val="0"/>
    </c:title>
    <c:autoTitleDeleted val="0"/>
    <c:plotArea>
      <c:layout/>
      <c:barChart>
        <c:barDir val="col"/>
        <c:grouping val="clustered"/>
        <c:varyColors val="1"/>
        <c:ser>
          <c:idx val="0"/>
          <c:order val="0"/>
          <c:tx>
            <c:strRef>
              <c:f>Sheet1!$B$1</c:f>
              <c:strCache>
                <c:ptCount val="1"/>
                <c:pt idx="0">
                  <c:v>Score</c:v>
                </c:pt>
              </c:strCache>
            </c:strRef>
          </c:tx>
          <c:spPr>
            <a:solidFill>
              <a:srgbClr val="95B3D7"/>
            </a:solidFill>
          </c:spPr>
          <c:invertIfNegative val="1"/>
          <c:dPt>
            <c:idx val="0"/>
            <c:invertIfNegative val="1"/>
            <c:bubble3D val="0"/>
            <c:spPr>
              <a:solidFill>
                <a:srgbClr val="385D8A"/>
              </a:solidFill>
            </c:spPr>
            <c:extLst>
              <c:ext xmlns:c16="http://schemas.microsoft.com/office/drawing/2014/chart" uri="{C3380CC4-5D6E-409C-BE32-E72D297353CC}">
                <c16:uniqueId val="{00000001-22EC-446E-B59F-3415940FD71F}"/>
              </c:ext>
            </c:extLst>
          </c:dPt>
          <c:dLbls>
            <c:numFmt formatCode="General" sourceLinked="0"/>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Rule-based (selected)</c:v>
                </c:pt>
                <c:pt idx="1">
                  <c:v>Logistic Regression</c:v>
                </c:pt>
                <c:pt idx="2">
                  <c:v>SVC</c:v>
                </c:pt>
                <c:pt idx="3">
                  <c:v>Multinomial NB</c:v>
                </c:pt>
              </c:strCache>
            </c:strRef>
          </c:cat>
          <c:val>
            <c:numRef>
              <c:f>Sheet1!$B$2:$B$5</c:f>
              <c:numCache>
                <c:formatCode>General</c:formatCode>
                <c:ptCount val="4"/>
                <c:pt idx="0">
                  <c:v>0.73470000000000002</c:v>
                </c:pt>
                <c:pt idx="1">
                  <c:v>0.28999999999999998</c:v>
                </c:pt>
                <c:pt idx="2">
                  <c:v>0.25</c:v>
                </c:pt>
                <c:pt idx="3">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2EC-446E-B59F-3415940FD71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D9D9D9"/>
              </a:solidFill>
            </a:ln>
          </c:spPr>
        </c:majorGridlines>
        <c:numFmt formatCode="General" sourceLinked="1"/>
        <c:majorTickMark val="out"/>
        <c:minorTickMark val="none"/>
        <c:tickLblPos val="nextTo"/>
        <c:txPr>
          <a:bodyPr/>
          <a:lstStyle/>
          <a:p>
            <a:pPr>
              <a:defRPr sz="1100"/>
            </a:pPr>
            <a:endParaRPr lang="en-US"/>
          </a:p>
        </c:txPr>
        <c:crossAx val="-2068027336"/>
        <c:crosses val="autoZero"/>
        <c:crossBetween val="between"/>
        <c:majorUnit val="0.2"/>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latin typeface="Calibri"/>
              </a:rPr>
              <a:t>Other evaluation metrics</a:t>
            </a:r>
          </a:p>
        </c:rich>
      </c:tx>
      <c:overlay val="0"/>
    </c:title>
    <c:autoTitleDeleted val="0"/>
    <c:plotArea>
      <c:layout/>
      <c:barChart>
        <c:barDir val="col"/>
        <c:grouping val="clustered"/>
        <c:varyColors val="1"/>
        <c:ser>
          <c:idx val="0"/>
          <c:order val="0"/>
          <c:tx>
            <c:strRef>
              <c:f>Sheet1!$B$1</c:f>
              <c:strCache>
                <c:ptCount val="1"/>
                <c:pt idx="0">
                  <c:v>Score</c:v>
                </c:pt>
              </c:strCache>
            </c:strRef>
          </c:tx>
          <c:spPr>
            <a:solidFill>
              <a:srgbClr val="95B3D7"/>
            </a:solidFill>
          </c:spPr>
          <c:invertIfNegative val="1"/>
          <c:dLbls>
            <c:numFmt formatCode="General" sourceLinked="0"/>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Micro-F1</c:v>
                </c:pt>
                <c:pt idx="1">
                  <c:v>Dept. accuracy</c:v>
                </c:pt>
                <c:pt idx="2">
                  <c:v>Stakeholder accuracy</c:v>
                </c:pt>
                <c:pt idx="3">
                  <c:v>Entity precision</c:v>
                </c:pt>
                <c:pt idx="4">
                  <c:v>Entity recall</c:v>
                </c:pt>
                <c:pt idx="5">
                  <c:v>Entity F1</c:v>
                </c:pt>
              </c:strCache>
            </c:strRef>
          </c:cat>
          <c:val>
            <c:numRef>
              <c:f>Sheet1!$B$2:$B$7</c:f>
              <c:numCache>
                <c:formatCode>General</c:formatCode>
                <c:ptCount val="6"/>
                <c:pt idx="0">
                  <c:v>0.83120000000000005</c:v>
                </c:pt>
                <c:pt idx="1">
                  <c:v>0.8</c:v>
                </c:pt>
                <c:pt idx="2">
                  <c:v>0.8</c:v>
                </c:pt>
                <c:pt idx="3">
                  <c:v>0.66700000000000004</c:v>
                </c:pt>
                <c:pt idx="4">
                  <c:v>1</c:v>
                </c:pt>
                <c:pt idx="5">
                  <c:v>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55F-4A4B-A45A-5AF16DE370AC}"/>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D9D9D9"/>
              </a:solidFill>
            </a:ln>
          </c:spPr>
        </c:majorGridlines>
        <c:numFmt formatCode="General" sourceLinked="1"/>
        <c:majorTickMark val="out"/>
        <c:minorTickMark val="none"/>
        <c:tickLblPos val="nextTo"/>
        <c:txPr>
          <a:bodyPr/>
          <a:lstStyle/>
          <a:p>
            <a:pPr>
              <a:defRPr sz="1100"/>
            </a:pPr>
            <a:endParaRPr lang="en-US"/>
          </a:p>
        </c:txPr>
        <c:crossAx val="-2068027336"/>
        <c:crosses val="autoZero"/>
        <c:crossBetween val="between"/>
        <c:majorUnit val="0.2"/>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8BC934B4-F338-49C2-B160-D26EA893F461}"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EADA"/>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a:rPr>
              <a:t>Click to edit the title text format</a:t>
            </a:r>
          </a:p>
        </p:txBody>
      </p:sp>
      <p:sp>
        <p:nvSpPr>
          <p:cNvPr id="6" name="PlaceHolder 2"/>
          <p:cNvSpPr>
            <a:spLocks noGrp="1"/>
          </p:cNvSpPr>
          <p:nvPr>
            <p:ph type="body"/>
          </p:nvPr>
        </p:nvSpPr>
        <p:spPr>
          <a:xfrm>
            <a:off x="457200" y="1600200"/>
            <a:ext cx="8229600" cy="4525920"/>
          </a:xfrm>
          <a:prstGeom prst="rect">
            <a:avLst/>
          </a:prstGeom>
          <a:noFill/>
          <a:ln w="0">
            <a:noFill/>
          </a:ln>
        </p:spPr>
        <p:txBody>
          <a:bodyPr lIns="90000" tIns="46800" rIns="90000" bIns="46800" anchor="t">
            <a:normAutofit/>
          </a:bodyPr>
          <a:lstStyle/>
          <a:p>
            <a:pPr marL="343080" indent="-34308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Click to edit the outline text format</a:t>
            </a:r>
          </a:p>
          <a:p>
            <a:pPr marL="743040" lvl="1" indent="-28584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Second Outline Level</a:t>
            </a:r>
          </a:p>
          <a:p>
            <a:pPr marL="1143000" lvl="2" indent="-22860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Third Outline Level</a:t>
            </a:r>
          </a:p>
          <a:p>
            <a:pPr marL="1600200" lvl="3" indent="-22860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Fourth Outline Level</a:t>
            </a:r>
          </a:p>
          <a:p>
            <a:pPr marL="2057400" lvl="4" indent="-22860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Fifth Outline Level</a:t>
            </a:r>
          </a:p>
          <a:p>
            <a:pPr marL="2057400" lvl="5" indent="-22860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Sixth Outline Level</a:t>
            </a:r>
          </a:p>
          <a:p>
            <a:pPr marL="2057400" lvl="6" indent="-22860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Calibri"/>
              </a:rPr>
              <a:t>Seventh Outline Level</a:t>
            </a:r>
          </a:p>
        </p:txBody>
      </p:sp>
      <p:sp>
        <p:nvSpPr>
          <p:cNvPr id="2" name="PlaceHolder 3"/>
          <p:cNvSpPr>
            <a:spLocks noGrp="1"/>
          </p:cNvSpPr>
          <p:nvPr>
            <p:ph type="dt" idx="1"/>
          </p:nvPr>
        </p:nvSpPr>
        <p:spPr>
          <a:xfrm>
            <a:off x="456840" y="6356520"/>
            <a:ext cx="2133720" cy="365040"/>
          </a:xfrm>
          <a:prstGeom prst="rect">
            <a:avLst/>
          </a:prstGeom>
          <a:noFill/>
          <a:ln w="0">
            <a:noFill/>
          </a:ln>
        </p:spPr>
        <p:txBody>
          <a:bodyPr lIns="90000" tIns="46800" rIns="90000" bIns="46800" anchor="ctr">
            <a:noAutofit/>
          </a:bodyPr>
          <a:lstStyle>
            <a:lvl1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EC93BA7-D1F5-4D6C-BC9A-1DC68B654FB2}"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3" name="PlaceHolder 4"/>
          <p:cNvSpPr>
            <a:spLocks noGrp="1"/>
          </p:cNvSpPr>
          <p:nvPr>
            <p:ph type="ftr" idx="2"/>
          </p:nvPr>
        </p:nvSpPr>
        <p:spPr>
          <a:xfrm>
            <a:off x="3124080" y="6356520"/>
            <a:ext cx="2895840" cy="365040"/>
          </a:xfrm>
          <a:prstGeom prst="rect">
            <a:avLst/>
          </a:prstGeom>
          <a:noFill/>
          <a:ln w="0">
            <a:noFill/>
          </a:ln>
        </p:spPr>
        <p:txBody>
          <a:bodyPr lIns="90000" tIns="46800" rIns="90000" bIns="46800" anchor="ctr">
            <a:noAutofit/>
          </a:bodyPr>
          <a:lstStyle>
            <a:lvl1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4" name="PlaceHolder 5"/>
          <p:cNvSpPr>
            <a:spLocks noGrp="1"/>
          </p:cNvSpPr>
          <p:nvPr>
            <p:ph type="sldNum" idx="3"/>
          </p:nvPr>
        </p:nvSpPr>
        <p:spPr>
          <a:xfrm>
            <a:off x="6552720" y="6356520"/>
            <a:ext cx="2133720" cy="365040"/>
          </a:xfrm>
          <a:prstGeom prst="rect">
            <a:avLst/>
          </a:prstGeom>
          <a:noFill/>
          <a:ln w="0">
            <a:noFill/>
          </a:ln>
        </p:spPr>
        <p:txBody>
          <a:bodyPr lIns="90000" tIns="46800" rIns="90000" bIns="46800" anchor="ctr">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80E7493-D80B-409D-9A01-53FDDBD3009D}" type="slidenum">
              <a:rPr lang="en-US" sz="1200" b="0" strike="noStrike" spc="-1">
                <a:solidFill>
                  <a:srgbClr val="898989"/>
                </a:solidFill>
                <a:latin typeface="Calibri"/>
              </a:rPr>
              <a:t>‹#›</a:t>
            </a:fld>
            <a:endParaRPr lang="en-US" sz="12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3"/>
          <p:cNvSpPr/>
          <p:nvPr/>
        </p:nvSpPr>
        <p:spPr>
          <a:xfrm>
            <a:off x="30240" y="1158840"/>
            <a:ext cx="9144000" cy="5562720"/>
          </a:xfrm>
          <a:prstGeom prst="rect">
            <a:avLst/>
          </a:prstGeom>
          <a:blipFill rotWithShape="0">
            <a:blip r:embed="rId2">
              <a:alphaModFix amt="40000"/>
            </a:blip>
            <a:srcRect/>
            <a:stretch/>
          </a:blipFill>
          <a:ln w="25560">
            <a:solidFill>
              <a:srgbClr val="385D8A"/>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Arial"/>
            </a:endParaRPr>
          </a:p>
        </p:txBody>
      </p:sp>
      <p:sp>
        <p:nvSpPr>
          <p:cNvPr id="6" name="PlaceHolder 1"/>
          <p:cNvSpPr>
            <a:spLocks noGrp="1"/>
          </p:cNvSpPr>
          <p:nvPr>
            <p:ph type="title"/>
          </p:nvPr>
        </p:nvSpPr>
        <p:spPr>
          <a:xfrm>
            <a:off x="838080" y="2720880"/>
            <a:ext cx="7772400" cy="1470240"/>
          </a:xfrm>
          <a:prstGeom prst="rect">
            <a:avLst/>
          </a:prstGeom>
          <a:noFill/>
          <a:ln w="0">
            <a:noFill/>
          </a:ln>
        </p:spPr>
        <p:txBody>
          <a:bodyPr lIns="91440" tIns="45720" rIns="91440" bIns="45720" anchor="ctr">
            <a:noAutofit/>
          </a:bodyPr>
          <a:lstStyle/>
          <a:p>
            <a:pPr marL="0" indent="0" algn="ctr">
              <a:lnSpc>
                <a:spcPct val="100000"/>
              </a:lnSpc>
              <a:spcBef>
                <a:spcPts val="600"/>
              </a:spcBef>
              <a:buNone/>
            </a:pPr>
            <a:r>
              <a:rPr lang="en-US" sz="2400" b="1" dirty="0">
                <a:solidFill>
                  <a:srgbClr val="0D0D0D"/>
                </a:solidFill>
                <a:latin typeface="Cambria"/>
              </a:rPr>
              <a:t>INTELLIGENT LINKEDIN POST CLASSIFICATION AND AUTOMATED REPORTING SYSTEM</a:t>
            </a:r>
            <a:br>
              <a:rPr lang="en-US" sz="1600" b="1" dirty="0">
                <a:solidFill>
                  <a:srgbClr val="0D0D0D"/>
                </a:solidFill>
                <a:latin typeface="Cambria"/>
              </a:rPr>
            </a:br>
            <a:r>
              <a:rPr lang="en-US" sz="1600" b="1" dirty="0">
                <a:solidFill>
                  <a:srgbClr val="0D0D0D"/>
                </a:solidFill>
                <a:latin typeface="Cambria"/>
              </a:rPr>
              <a:t>Using Natural Language Processing and Dynamic Schema Induction</a:t>
            </a:r>
          </a:p>
        </p:txBody>
      </p:sp>
      <p:sp>
        <p:nvSpPr>
          <p:cNvPr id="7" name="PlaceHolder 2"/>
          <p:cNvSpPr>
            <a:spLocks noGrp="1"/>
          </p:cNvSpPr>
          <p:nvPr>
            <p:ph type="subTitle"/>
          </p:nvPr>
        </p:nvSpPr>
        <p:spPr>
          <a:xfrm>
            <a:off x="1828800" y="4190759"/>
            <a:ext cx="6400800" cy="1028941"/>
          </a:xfrm>
          <a:prstGeom prst="rect">
            <a:avLst/>
          </a:prstGeom>
          <a:noFill/>
          <a:ln w="0">
            <a:noFill/>
          </a:ln>
        </p:spPr>
        <p:txBody>
          <a:bodyPr lIns="91440" tIns="45720" rIns="91440" bIns="45720" anchor="t">
            <a:noAutofit/>
          </a:bodyPr>
          <a:lstStyle/>
          <a:p>
            <a:pPr marL="0" indent="0" algn="ctr">
              <a:lnSpc>
                <a:spcPct val="100000"/>
              </a:lnSpc>
              <a:spcBef>
                <a:spcPts val="0"/>
              </a:spcBef>
              <a:buNone/>
            </a:pPr>
            <a:r>
              <a:rPr lang="en-US" sz="2000" b="1" dirty="0">
                <a:solidFill>
                  <a:srgbClr val="000000"/>
                </a:solidFill>
                <a:latin typeface="Cambria"/>
              </a:rPr>
              <a:t>Team Members:</a:t>
            </a:r>
          </a:p>
          <a:p>
            <a:pPr marL="0" indent="0" algn="ctr">
              <a:lnSpc>
                <a:spcPct val="100000"/>
              </a:lnSpc>
              <a:spcBef>
                <a:spcPts val="0"/>
              </a:spcBef>
              <a:buNone/>
            </a:pPr>
            <a:r>
              <a:rPr lang="en-US" sz="2000" b="1" dirty="0">
                <a:solidFill>
                  <a:srgbClr val="000000"/>
                </a:solidFill>
                <a:latin typeface="Cambria"/>
              </a:rPr>
              <a:t>1.Kabileshwaran J(2503917762221002 )       </a:t>
            </a:r>
          </a:p>
          <a:p>
            <a:pPr marL="0" indent="0" algn="ctr">
              <a:lnSpc>
                <a:spcPct val="100000"/>
              </a:lnSpc>
              <a:spcBef>
                <a:spcPts val="0"/>
              </a:spcBef>
              <a:buNone/>
            </a:pPr>
            <a:r>
              <a:rPr lang="en-US" sz="2000" b="1" dirty="0">
                <a:solidFill>
                  <a:srgbClr val="000000"/>
                </a:solidFill>
                <a:latin typeface="Cambria"/>
              </a:rPr>
              <a:t>2.Shalini B V (2503917762222027)</a:t>
            </a:r>
          </a:p>
          <a:p>
            <a:pPr marL="0" indent="0" algn="ctr">
              <a:lnSpc>
                <a:spcPct val="100000"/>
              </a:lnSpc>
              <a:spcBef>
                <a:spcPts val="0"/>
              </a:spcBef>
              <a:buNone/>
            </a:pPr>
            <a:endParaRPr lang="en-US" sz="2000" b="1" dirty="0">
              <a:solidFill>
                <a:srgbClr val="000000"/>
              </a:solidFill>
              <a:latin typeface="Cambria"/>
            </a:endParaRPr>
          </a:p>
          <a:p>
            <a:pPr marL="0" indent="0" algn="ctr">
              <a:lnSpc>
                <a:spcPct val="100000"/>
              </a:lnSpc>
              <a:spcBef>
                <a:spcPts val="400"/>
              </a:spcBef>
              <a:buNone/>
            </a:pPr>
            <a:r>
              <a:rPr lang="en-US" sz="2000" b="1" dirty="0">
                <a:solidFill>
                  <a:srgbClr val="000000"/>
                </a:solidFill>
                <a:latin typeface="Cambria"/>
              </a:rPr>
              <a:t>Type of the project: Institutional Project</a:t>
            </a:r>
          </a:p>
        </p:txBody>
      </p:sp>
      <p:grpSp>
        <p:nvGrpSpPr>
          <p:cNvPr id="8" name="Group 6"/>
          <p:cNvGrpSpPr/>
          <p:nvPr/>
        </p:nvGrpSpPr>
        <p:grpSpPr>
          <a:xfrm>
            <a:off x="22320" y="152280"/>
            <a:ext cx="7902360" cy="981000"/>
            <a:chOff x="22320" y="152280"/>
            <a:chExt cx="7902360" cy="981000"/>
          </a:xfrm>
        </p:grpSpPr>
        <p:pic>
          <p:nvPicPr>
            <p:cNvPr id="9" name="Picture 1" descr="Description: Description: tce_logo.png"/>
            <p:cNvPicPr/>
            <p:nvPr/>
          </p:nvPicPr>
          <p:blipFill>
            <a:blip r:embed="rId3"/>
            <a:srcRect b="2901"/>
            <a:stretch/>
          </p:blipFill>
          <p:spPr>
            <a:xfrm>
              <a:off x="22320" y="152280"/>
              <a:ext cx="983160" cy="914040"/>
            </a:xfrm>
            <a:prstGeom prst="rect">
              <a:avLst/>
            </a:prstGeom>
            <a:ln w="0">
              <a:noFill/>
            </a:ln>
          </p:spPr>
        </p:pic>
        <p:sp>
          <p:nvSpPr>
            <p:cNvPr id="10" name="Rectangle 4"/>
            <p:cNvSpPr/>
            <p:nvPr/>
          </p:nvSpPr>
          <p:spPr>
            <a:xfrm>
              <a:off x="838440" y="155160"/>
              <a:ext cx="7086240" cy="978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Cambria"/>
                  <a:ea typeface="Calibri"/>
                </a:rPr>
                <a:t>THIAGARAJAR COLLEGE OF ENGINEERING, MADURAI-15</a:t>
              </a:r>
              <a:endParaRPr lang="en-US" sz="2000" b="0" strike="noStrike" spc="-1">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a:solidFill>
                    <a:srgbClr val="000000"/>
                  </a:solidFill>
                  <a:latin typeface="Cambria"/>
                  <a:ea typeface="Calibri"/>
                </a:rPr>
                <a:t>(A Govt. Aided Autonomous Institution affiliated to Anna University)</a:t>
              </a:r>
              <a:endParaRPr lang="en-US" sz="1800" b="0" strike="noStrike" spc="-1">
                <a:solidFill>
                  <a:srgbClr val="000000"/>
                </a:solidFill>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i="1" strike="noStrike" spc="-1">
                  <a:solidFill>
                    <a:srgbClr val="000000"/>
                  </a:solidFill>
                  <a:latin typeface="Cambria"/>
                  <a:ea typeface="Calibri"/>
                </a:rPr>
                <a:t>                            - where quality and ethics matter</a:t>
              </a:r>
              <a:r>
                <a:rPr lang="en-US" sz="2000" b="0" strike="noStrike" spc="-1">
                  <a:solidFill>
                    <a:srgbClr val="000000"/>
                  </a:solidFill>
                  <a:latin typeface="Cambria"/>
                  <a:ea typeface="Calibri"/>
                </a:rPr>
                <a:t> </a:t>
              </a:r>
              <a:endParaRPr lang="en-US" sz="2000" b="0" strike="noStrike" spc="-1">
                <a:solidFill>
                  <a:srgbClr val="000000"/>
                </a:solidFill>
                <a:latin typeface="Arial"/>
              </a:endParaRPr>
            </a:p>
          </p:txBody>
        </p:sp>
      </p:grpSp>
      <p:sp>
        <p:nvSpPr>
          <p:cNvPr id="11" name="Straight Connector 9"/>
          <p:cNvSpPr/>
          <p:nvPr/>
        </p:nvSpPr>
        <p:spPr>
          <a:xfrm>
            <a:off x="0" y="1295280"/>
            <a:ext cx="9144000" cy="0"/>
          </a:xfrm>
          <a:prstGeom prst="line">
            <a:avLst/>
          </a:prstGeom>
          <a:ln w="255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1800" b="0" strike="noStrike" spc="-1">
              <a:solidFill>
                <a:srgbClr val="000000"/>
              </a:solidFill>
              <a:latin typeface="Arial"/>
            </a:endParaRPr>
          </a:p>
        </p:txBody>
      </p:sp>
      <p:sp>
        <p:nvSpPr>
          <p:cNvPr id="12" name="Date Placeholder 4"/>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69C563A-EBD2-4C43-A50F-232CD4D4BB96}"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13" name="Footer Placeholder 7"/>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14" name="Slide Number Placeholder 8"/>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AF0898E-CCD5-413F-AE2E-7010EC1AB814}" type="slidenum">
              <a:rPr lang="en-US" sz="1200" b="0" strike="noStrike" spc="-1">
                <a:solidFill>
                  <a:srgbClr val="898989"/>
                </a:solidFill>
                <a:latin typeface="Calibri"/>
                <a:ea typeface="Arial"/>
              </a:rPr>
              <a:t>1</a:t>
            </a:fld>
            <a:endParaRPr lang="en-US" sz="1200" b="0" strike="noStrike" spc="-1">
              <a:solidFill>
                <a:srgbClr val="000000"/>
              </a:solidFill>
              <a:latin typeface="Arial"/>
            </a:endParaRPr>
          </a:p>
        </p:txBody>
      </p:sp>
      <p:pic>
        <p:nvPicPr>
          <p:cNvPr id="15" name="Picture 2"/>
          <p:cNvPicPr/>
          <p:nvPr/>
        </p:nvPicPr>
        <p:blipFill>
          <a:blip r:embed="rId4"/>
          <a:stretch/>
        </p:blipFill>
        <p:spPr>
          <a:xfrm>
            <a:off x="7924680" y="227160"/>
            <a:ext cx="895320" cy="75240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dirty="0">
                <a:solidFill>
                  <a:srgbClr val="000000"/>
                </a:solidFill>
                <a:latin typeface="Calibri"/>
              </a:rPr>
              <a:t>Industry area identified</a:t>
            </a:r>
          </a:p>
        </p:txBody>
      </p:sp>
      <p:sp>
        <p:nvSpPr>
          <p:cNvPr id="17" name="TextBox 16"/>
          <p:cNvSpPr txBox="1"/>
          <p:nvPr/>
        </p:nvSpPr>
        <p:spPr>
          <a:xfrm>
            <a:off x="457200" y="1600200"/>
            <a:ext cx="8229600" cy="3790950"/>
          </a:xfrm>
          <a:prstGeom prst="rect">
            <a:avLst/>
          </a:prstGeom>
          <a:noFill/>
          <a:ln w="0">
            <a:noFill/>
          </a:ln>
        </p:spPr>
        <p:txBody>
          <a:bodyPr anchor="t">
            <a:normAutofit lnSpcReduction="10000"/>
          </a:bodyPr>
          <a:lstStyle/>
          <a:p>
            <a:pPr marL="285750" indent="-285750">
              <a:lnSpc>
                <a:spcPct val="100000"/>
              </a:lnSpc>
              <a:spcBef>
                <a:spcPts val="600"/>
              </a:spcBef>
              <a:buClr>
                <a:srgbClr val="000000"/>
              </a:buClr>
              <a:buFont typeface="Arial"/>
              <a:buChar char="•"/>
            </a:pPr>
            <a:r>
              <a:rPr lang="en-US" sz="3600" b="1" dirty="0">
                <a:solidFill>
                  <a:srgbClr val="000000"/>
                </a:solidFill>
                <a:latin typeface="Calibri"/>
              </a:rPr>
              <a:t>Industry area</a:t>
            </a:r>
            <a:r>
              <a:rPr lang="en-US" sz="3200" b="1" dirty="0">
                <a:solidFill>
                  <a:srgbClr val="000000"/>
                </a:solidFill>
                <a:latin typeface="Calibri"/>
              </a:rPr>
              <a:t>:</a:t>
            </a:r>
          </a:p>
          <a:p>
            <a:pPr>
              <a:lnSpc>
                <a:spcPct val="100000"/>
              </a:lnSpc>
              <a:spcBef>
                <a:spcPts val="600"/>
              </a:spcBef>
              <a:buClr>
                <a:srgbClr val="000000"/>
              </a:buClr>
            </a:pPr>
            <a:r>
              <a:rPr lang="en-US" sz="3200" b="1" dirty="0">
                <a:solidFill>
                  <a:srgbClr val="000000"/>
                </a:solidFill>
                <a:latin typeface="Calibri"/>
              </a:rPr>
              <a:t>              </a:t>
            </a:r>
            <a:r>
              <a:rPr lang="en-US" sz="3200" b="1" dirty="0" err="1">
                <a:solidFill>
                  <a:srgbClr val="000000"/>
                </a:solidFill>
                <a:latin typeface="Calibri"/>
              </a:rPr>
              <a:t>Thiagarajar</a:t>
            </a:r>
            <a:r>
              <a:rPr lang="en-US" sz="3200" b="1" dirty="0">
                <a:solidFill>
                  <a:srgbClr val="000000"/>
                </a:solidFill>
                <a:latin typeface="Calibri"/>
              </a:rPr>
              <a:t> College of Engineering</a:t>
            </a:r>
            <a:endParaRPr lang="en-US" sz="3200" b="0" dirty="0">
              <a:solidFill>
                <a:srgbClr val="000000"/>
              </a:solidFill>
              <a:latin typeface="Calibri"/>
            </a:endParaRPr>
          </a:p>
          <a:p>
            <a:pPr marL="285750" indent="-285750">
              <a:lnSpc>
                <a:spcPct val="100000"/>
              </a:lnSpc>
              <a:spcBef>
                <a:spcPts val="600"/>
              </a:spcBef>
              <a:buClr>
                <a:srgbClr val="000000"/>
              </a:buClr>
              <a:buFont typeface="Arial"/>
              <a:buChar char="•"/>
            </a:pPr>
            <a:r>
              <a:rPr lang="en-US" sz="3200" b="1" dirty="0">
                <a:solidFill>
                  <a:srgbClr val="000000"/>
                </a:solidFill>
                <a:latin typeface="Calibri"/>
              </a:rPr>
              <a:t>Scope: </a:t>
            </a:r>
          </a:p>
          <a:p>
            <a:pPr>
              <a:lnSpc>
                <a:spcPct val="100000"/>
              </a:lnSpc>
              <a:spcBef>
                <a:spcPts val="600"/>
              </a:spcBef>
              <a:buClr>
                <a:srgbClr val="000000"/>
              </a:buClr>
            </a:pPr>
            <a:r>
              <a:rPr lang="en-US" sz="1700" b="0" dirty="0">
                <a:solidFill>
                  <a:srgbClr val="000000"/>
                </a:solidFill>
                <a:latin typeface="Calibri"/>
              </a:rPr>
              <a:t>  </a:t>
            </a:r>
            <a:r>
              <a:rPr lang="en-US" sz="3200" b="0" dirty="0">
                <a:solidFill>
                  <a:srgbClr val="000000"/>
                </a:solidFill>
                <a:latin typeface="Calibri"/>
              </a:rPr>
              <a:t>Collect and verify college achievements (research, patents, </a:t>
            </a:r>
            <a:r>
              <a:rPr lang="en-US" sz="3200" b="0" dirty="0" err="1">
                <a:solidFill>
                  <a:srgbClr val="000000"/>
                </a:solidFill>
                <a:latin typeface="Calibri"/>
              </a:rPr>
              <a:t>MoUs</a:t>
            </a:r>
            <a:r>
              <a:rPr lang="en-US" sz="3200" b="0" dirty="0">
                <a:solidFill>
                  <a:srgbClr val="000000"/>
                </a:solidFill>
                <a:latin typeface="Calibri"/>
              </a:rPr>
              <a:t>, placements, events) from web pages and LinkedIn posts, and turn them into structured reports for audits.</a:t>
            </a:r>
          </a:p>
          <a:p>
            <a:pPr marL="0" indent="0" algn="ctr">
              <a:lnSpc>
                <a:spcPct val="100000"/>
              </a:lnSpc>
              <a:spcBef>
                <a:spcPts val="700"/>
              </a:spcBef>
              <a:buNone/>
            </a:pPr>
            <a:endParaRPr lang="en-US" sz="1700" b="0" dirty="0">
              <a:solidFill>
                <a:srgbClr val="000000"/>
              </a:solidFill>
              <a:latin typeface="Calibri"/>
            </a:endParaRPr>
          </a:p>
        </p:txBody>
      </p:sp>
      <p:sp>
        <p:nvSpPr>
          <p:cNvPr id="1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4D473C-56E3-42FD-BAE2-E8D7E6EC1F6B}"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19"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2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1D5017-356F-43B7-9CA6-02524D242A1F}" type="slidenum">
              <a:rPr lang="en-US" sz="1200" b="0" strike="noStrike" spc="-1">
                <a:solidFill>
                  <a:srgbClr val="898989"/>
                </a:solidFill>
                <a:latin typeface="Calibri"/>
                <a:ea typeface="Arial"/>
              </a:rPr>
              <a:t>2</a:t>
            </a:fld>
            <a:endParaRPr lang="en-US" sz="12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a:rPr>
              <a:t>Problem Statement</a:t>
            </a:r>
          </a:p>
        </p:txBody>
      </p:sp>
      <p:sp>
        <p:nvSpPr>
          <p:cNvPr id="27" name="TextBox 26"/>
          <p:cNvSpPr txBox="1"/>
          <p:nvPr/>
        </p:nvSpPr>
        <p:spPr>
          <a:xfrm>
            <a:off x="457200" y="1600200"/>
            <a:ext cx="8229600" cy="4525920"/>
          </a:xfrm>
          <a:prstGeom prst="rect">
            <a:avLst/>
          </a:prstGeom>
          <a:noFill/>
          <a:ln w="0">
            <a:noFill/>
          </a:ln>
        </p:spPr>
        <p:txBody>
          <a:bodyPr anchor="t">
            <a:normAutofit fontScale="92500" lnSpcReduction="10000"/>
          </a:bodyPr>
          <a:lstStyle/>
          <a:p>
            <a:pPr marL="285750" indent="-285750">
              <a:lnSpc>
                <a:spcPct val="100000"/>
              </a:lnSpc>
              <a:spcBef>
                <a:spcPts val="600"/>
              </a:spcBef>
              <a:buClr>
                <a:srgbClr val="000000"/>
              </a:buClr>
              <a:buFont typeface="Arial"/>
              <a:buChar char="•"/>
            </a:pPr>
            <a:r>
              <a:rPr lang="en-US" sz="2200" b="1" dirty="0">
                <a:solidFill>
                  <a:srgbClr val="000000"/>
                </a:solidFill>
                <a:latin typeface="Calibri"/>
              </a:rPr>
              <a:t>The need: </a:t>
            </a:r>
            <a:r>
              <a:rPr lang="en-US" sz="2200" dirty="0">
                <a:solidFill>
                  <a:srgbClr val="000000"/>
                </a:solidFill>
                <a:latin typeface="Calibri"/>
              </a:rPr>
              <a:t>Educational institutions generate vast amounts of valuable achievement and event data on social platforms like LinkedIn. However, this data remains unstructured and scattered in text format. Manually extracting, categorizing, and structuring this information for institutional audits (NAAC, NIRF) and departmental reporting is labor-intensive, error-prone, and </a:t>
            </a:r>
            <a:r>
              <a:rPr lang="en-US" sz="2200" dirty="0" err="1">
                <a:solidFill>
                  <a:srgbClr val="000000"/>
                </a:solidFill>
                <a:latin typeface="Calibri"/>
              </a:rPr>
              <a:t>inefficient.This</a:t>
            </a:r>
            <a:r>
              <a:rPr lang="en-US" sz="2200" dirty="0">
                <a:solidFill>
                  <a:srgbClr val="000000"/>
                </a:solidFill>
                <a:latin typeface="Calibri"/>
              </a:rPr>
              <a:t> project automates the extraction, NLP-based classification, and dynamic tabular report generation of institutional journeys from unstructured LinkedIn and historical data.</a:t>
            </a:r>
          </a:p>
          <a:p>
            <a:pPr marL="285750" indent="-285750">
              <a:lnSpc>
                <a:spcPct val="100000"/>
              </a:lnSpc>
              <a:spcBef>
                <a:spcPts val="600"/>
              </a:spcBef>
              <a:buClr>
                <a:srgbClr val="000000"/>
              </a:buClr>
              <a:buFont typeface="Arial"/>
              <a:buChar char="•"/>
            </a:pPr>
            <a:r>
              <a:rPr lang="en-US" sz="2200" b="1" dirty="0">
                <a:solidFill>
                  <a:srgbClr val="000000"/>
                </a:solidFill>
                <a:latin typeface="Calibri"/>
              </a:rPr>
              <a:t>Who will use it:</a:t>
            </a:r>
          </a:p>
          <a:p>
            <a:pPr marL="571500" indent="-228600">
              <a:lnSpc>
                <a:spcPct val="100000"/>
              </a:lnSpc>
              <a:spcBef>
                <a:spcPts val="600"/>
              </a:spcBef>
              <a:buClr>
                <a:srgbClr val="000000"/>
              </a:buClr>
              <a:buFont typeface="Arial"/>
              <a:buChar char="–"/>
            </a:pPr>
            <a:r>
              <a:rPr lang="en-US" sz="2100" b="1" dirty="0">
                <a:solidFill>
                  <a:srgbClr val="000000"/>
                </a:solidFill>
                <a:latin typeface="Calibri"/>
              </a:rPr>
              <a:t>Deans and IQAC coordinators: </a:t>
            </a:r>
            <a:r>
              <a:rPr lang="en-US" sz="2100" b="0" dirty="0">
                <a:solidFill>
                  <a:srgbClr val="000000"/>
                </a:solidFill>
                <a:latin typeface="Calibri"/>
              </a:rPr>
              <a:t>accreditation figures and audit checks.</a:t>
            </a:r>
          </a:p>
          <a:p>
            <a:pPr marL="571500" indent="-228600">
              <a:lnSpc>
                <a:spcPct val="100000"/>
              </a:lnSpc>
              <a:spcBef>
                <a:spcPts val="600"/>
              </a:spcBef>
              <a:buClr>
                <a:srgbClr val="000000"/>
              </a:buClr>
              <a:buFont typeface="Arial"/>
              <a:buChar char="–"/>
            </a:pPr>
            <a:r>
              <a:rPr lang="en-US" sz="2100" b="1" dirty="0">
                <a:solidFill>
                  <a:srgbClr val="000000"/>
                </a:solidFill>
                <a:latin typeface="Calibri"/>
              </a:rPr>
              <a:t>Department heads and faculty in-charges: </a:t>
            </a:r>
            <a:r>
              <a:rPr lang="en-US" sz="2100" b="0" dirty="0">
                <a:solidFill>
                  <a:srgbClr val="000000"/>
                </a:solidFill>
                <a:latin typeface="Calibri"/>
              </a:rPr>
              <a:t>track milestones, funding and industry tie-ups.</a:t>
            </a:r>
          </a:p>
          <a:p>
            <a:pPr marL="571500" indent="-228600">
              <a:lnSpc>
                <a:spcPct val="100000"/>
              </a:lnSpc>
              <a:spcBef>
                <a:spcPts val="600"/>
              </a:spcBef>
              <a:buClr>
                <a:srgbClr val="000000"/>
              </a:buClr>
              <a:buFont typeface="Arial"/>
              <a:buChar char="–"/>
            </a:pPr>
            <a:r>
              <a:rPr lang="en-US" sz="2100" b="1" dirty="0">
                <a:solidFill>
                  <a:srgbClr val="000000"/>
                </a:solidFill>
                <a:latin typeface="Calibri"/>
              </a:rPr>
              <a:t>Administrators and auditors: </a:t>
            </a:r>
            <a:r>
              <a:rPr lang="en-US" sz="2100" b="0" dirty="0">
                <a:solidFill>
                  <a:srgbClr val="000000"/>
                </a:solidFill>
                <a:latin typeface="Calibri"/>
              </a:rPr>
              <a:t>ask questions in plain English and download Excel or PDF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strike="noStrike" spc="-1" dirty="0">
                <a:solidFill>
                  <a:srgbClr val="000000"/>
                </a:solidFill>
                <a:latin typeface="Calibri"/>
              </a:rPr>
              <a:t>Objectives</a:t>
            </a:r>
          </a:p>
        </p:txBody>
      </p:sp>
      <p:sp>
        <p:nvSpPr>
          <p:cNvPr id="32" name="TextBox 31"/>
          <p:cNvSpPr txBox="1"/>
          <p:nvPr/>
        </p:nvSpPr>
        <p:spPr>
          <a:xfrm>
            <a:off x="323850" y="1166040"/>
            <a:ext cx="8229600" cy="4525920"/>
          </a:xfrm>
          <a:prstGeom prst="rect">
            <a:avLst/>
          </a:prstGeom>
          <a:noFill/>
          <a:ln w="0">
            <a:noFill/>
          </a:ln>
        </p:spPr>
        <p:txBody>
          <a:bodyPr anchor="t">
            <a:noAutofit/>
          </a:bodyPr>
          <a:lstStyle/>
          <a:p>
            <a:pPr>
              <a:lnSpc>
                <a:spcPct val="100000"/>
              </a:lnSpc>
              <a:spcBef>
                <a:spcPts val="800"/>
              </a:spcBef>
              <a:buClr>
                <a:srgbClr val="000000"/>
              </a:buClr>
            </a:pPr>
            <a:r>
              <a:rPr lang="en-US" b="1" dirty="0">
                <a:solidFill>
                  <a:srgbClr val="000000"/>
                </a:solidFill>
                <a:latin typeface="Cambria"/>
              </a:rPr>
              <a:t>1.Automated Data Ingestion &amp; Preprocessing:</a:t>
            </a:r>
          </a:p>
          <a:p>
            <a:pPr>
              <a:lnSpc>
                <a:spcPct val="100000"/>
              </a:lnSpc>
              <a:spcBef>
                <a:spcPts val="800"/>
              </a:spcBef>
              <a:buClr>
                <a:srgbClr val="000000"/>
              </a:buClr>
            </a:pPr>
            <a:r>
              <a:rPr lang="en-US" b="0" dirty="0">
                <a:solidFill>
                  <a:srgbClr val="000000"/>
                </a:solidFill>
                <a:latin typeface="Cambria"/>
              </a:rPr>
              <a:t>  Develop an automated pipeline to extract institutional data from historical records and live LinkedIn feeds, eliminating duplicates, handling missing values, and </a:t>
            </a:r>
            <a:r>
              <a:rPr lang="en-US" b="0" dirty="0" err="1">
                <a:solidFill>
                  <a:srgbClr val="000000"/>
                </a:solidFill>
                <a:latin typeface="Cambria"/>
              </a:rPr>
              <a:t>standardising</a:t>
            </a:r>
            <a:r>
              <a:rPr lang="en-US" b="0" dirty="0">
                <a:solidFill>
                  <a:srgbClr val="000000"/>
                </a:solidFill>
                <a:latin typeface="Cambria"/>
              </a:rPr>
              <a:t> records across academic years.</a:t>
            </a:r>
          </a:p>
          <a:p>
            <a:pPr>
              <a:lnSpc>
                <a:spcPct val="100000"/>
              </a:lnSpc>
              <a:spcBef>
                <a:spcPts val="800"/>
              </a:spcBef>
              <a:buClr>
                <a:srgbClr val="000000"/>
              </a:buClr>
            </a:pPr>
            <a:r>
              <a:rPr lang="en-US" b="1" dirty="0">
                <a:solidFill>
                  <a:srgbClr val="000000"/>
                </a:solidFill>
                <a:latin typeface="Cambria"/>
              </a:rPr>
              <a:t>2.NLP-Driven Classification &amp; Information Extraction:</a:t>
            </a:r>
          </a:p>
          <a:p>
            <a:pPr>
              <a:lnSpc>
                <a:spcPct val="100000"/>
              </a:lnSpc>
              <a:spcBef>
                <a:spcPts val="800"/>
              </a:spcBef>
              <a:buClr>
                <a:srgbClr val="000000"/>
              </a:buClr>
            </a:pPr>
            <a:r>
              <a:rPr lang="en-US" b="0" dirty="0">
                <a:solidFill>
                  <a:srgbClr val="000000"/>
                </a:solidFill>
                <a:latin typeface="Cambria"/>
              </a:rPr>
              <a:t>Employ NLP and AI models to classify each post into appropriate institutional categories, departments, and primary stakeholders (Faculty, Student, Institution), while extracting key metrics such as patent numbers, funding agencies, sanctioned amounts, and event dates.</a:t>
            </a:r>
          </a:p>
          <a:p>
            <a:pPr>
              <a:lnSpc>
                <a:spcPct val="100000"/>
              </a:lnSpc>
              <a:spcBef>
                <a:spcPts val="800"/>
              </a:spcBef>
              <a:buClr>
                <a:srgbClr val="000000"/>
              </a:buClr>
            </a:pPr>
            <a:r>
              <a:rPr lang="en-US" b="1" dirty="0">
                <a:solidFill>
                  <a:srgbClr val="000000"/>
                </a:solidFill>
                <a:latin typeface="Cambria"/>
              </a:rPr>
              <a:t>3.Dynamic Schema Induction &amp; Governance:</a:t>
            </a:r>
          </a:p>
          <a:p>
            <a:pPr>
              <a:lnSpc>
                <a:spcPct val="100000"/>
              </a:lnSpc>
              <a:spcBef>
                <a:spcPts val="800"/>
              </a:spcBef>
              <a:buClr>
                <a:srgbClr val="000000"/>
              </a:buClr>
            </a:pPr>
            <a:r>
              <a:rPr lang="en-US" b="0" dirty="0">
                <a:solidFill>
                  <a:srgbClr val="000000"/>
                </a:solidFill>
                <a:latin typeface="Cambria"/>
              </a:rPr>
              <a:t>Automatically induce tabular report structures based on field occurrence thresholds  of 15%  offering AI-assisted recommendations and an admin approval workflow with version-controlled schema freezing.</a:t>
            </a:r>
          </a:p>
          <a:p>
            <a:pPr>
              <a:lnSpc>
                <a:spcPct val="100000"/>
              </a:lnSpc>
              <a:spcBef>
                <a:spcPts val="800"/>
              </a:spcBef>
              <a:buClr>
                <a:srgbClr val="000000"/>
              </a:buClr>
            </a:pPr>
            <a:r>
              <a:rPr lang="en-US" b="1" dirty="0">
                <a:solidFill>
                  <a:srgbClr val="000000"/>
                </a:solidFill>
                <a:latin typeface="Cambria"/>
              </a:rPr>
              <a:t>4.Interactive Dashboard &amp; Automated Reporting:</a:t>
            </a:r>
          </a:p>
          <a:p>
            <a:pPr>
              <a:lnSpc>
                <a:spcPct val="100000"/>
              </a:lnSpc>
              <a:spcBef>
                <a:spcPts val="800"/>
              </a:spcBef>
              <a:buClr>
                <a:srgbClr val="000000"/>
              </a:buClr>
            </a:pPr>
            <a:r>
              <a:rPr lang="en-US" b="0" dirty="0">
                <a:solidFill>
                  <a:srgbClr val="000000"/>
                </a:solidFill>
                <a:latin typeface="Cambria"/>
              </a:rPr>
              <a:t>Deliver an interactive React web portal featuring multi-level drill-down analytics, search capabilities, and synchronized Excel and PDF export facilities for audit readiness (e.g., NAAC / NIRF).</a:t>
            </a:r>
          </a:p>
        </p:txBody>
      </p:sp>
      <p:sp>
        <p:nvSpPr>
          <p:cNvPr id="33"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a:rPr>
              <a:t>Tools and Technologies used</a:t>
            </a:r>
          </a:p>
        </p:txBody>
      </p:sp>
      <p:sp>
        <p:nvSpPr>
          <p:cNvPr id="3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sp>
        <p:nvSpPr>
          <p:cNvPr id="4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graphicFrame>
        <p:nvGraphicFramePr>
          <p:cNvPr id="41" name="Table 40"/>
          <p:cNvGraphicFramePr>
            <a:graphicFrameLocks noGrp="1"/>
          </p:cNvGraphicFramePr>
          <p:nvPr>
            <p:extLst>
              <p:ext uri="{D42A27DB-BD31-4B8C-83A1-F6EECF244321}">
                <p14:modId xmlns:p14="http://schemas.microsoft.com/office/powerpoint/2010/main" val="189407871"/>
              </p:ext>
            </p:extLst>
          </p:nvPr>
        </p:nvGraphicFramePr>
        <p:xfrm>
          <a:off x="457200" y="1600200"/>
          <a:ext cx="8229600" cy="4514720"/>
        </p:xfrm>
        <a:graphic>
          <a:graphicData uri="http://schemas.openxmlformats.org/drawingml/2006/table">
            <a:tbl>
              <a:tblPr/>
              <a:tblGrid>
                <a:gridCol w="2000000">
                  <a:extLst>
                    <a:ext uri="{9D8B030D-6E8A-4147-A177-3AD203B41FA5}">
                      <a16:colId xmlns:a16="http://schemas.microsoft.com/office/drawing/2014/main" val="20000"/>
                    </a:ext>
                  </a:extLst>
                </a:gridCol>
                <a:gridCol w="6229600">
                  <a:extLst>
                    <a:ext uri="{9D8B030D-6E8A-4147-A177-3AD203B41FA5}">
                      <a16:colId xmlns:a16="http://schemas.microsoft.com/office/drawing/2014/main" val="20001"/>
                    </a:ext>
                  </a:extLst>
                </a:gridCol>
              </a:tblGrid>
              <a:tr h="420000">
                <a:tc>
                  <a:txBody>
                    <a:bodyPr/>
                    <a:lstStyle/>
                    <a:p>
                      <a:pPr marL="0" indent="0">
                        <a:lnSpc>
                          <a:spcPct val="100000"/>
                        </a:lnSpc>
                        <a:spcBef>
                          <a:spcPts val="0"/>
                        </a:spcBef>
                        <a:buNone/>
                      </a:pPr>
                      <a:r>
                        <a:rPr lang="en-US" sz="1800" b="1">
                          <a:solidFill>
                            <a:srgbClr val="FFFFFF"/>
                          </a:solidFill>
                          <a:latin typeface="Calibri"/>
                        </a:rPr>
                        <a:t>Area</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4F81BD"/>
                    </a:solidFill>
                  </a:tcPr>
                </a:tc>
                <a:tc>
                  <a:txBody>
                    <a:bodyPr/>
                    <a:lstStyle/>
                    <a:p>
                      <a:pPr marL="0" indent="0">
                        <a:lnSpc>
                          <a:spcPct val="100000"/>
                        </a:lnSpc>
                        <a:spcBef>
                          <a:spcPts val="0"/>
                        </a:spcBef>
                        <a:buNone/>
                      </a:pPr>
                      <a:r>
                        <a:rPr lang="en-US" sz="1800" b="1">
                          <a:solidFill>
                            <a:srgbClr val="FFFFFF"/>
                          </a:solidFill>
                          <a:latin typeface="Calibri"/>
                        </a:rPr>
                        <a:t>Technologies used (and what for)</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4F81BD"/>
                    </a:solidFill>
                  </a:tcPr>
                </a:tc>
                <a:extLst>
                  <a:ext uri="{0D108BD9-81ED-4DB2-BD59-A6C34878D82A}">
                    <a16:rowId xmlns:a16="http://schemas.microsoft.com/office/drawing/2014/main" val="10000"/>
                  </a:ext>
                </a:extLst>
              </a:tr>
              <a:tr h="1000000">
                <a:tc>
                  <a:txBody>
                    <a:bodyPr/>
                    <a:lstStyle/>
                    <a:p>
                      <a:pPr marL="0" indent="0">
                        <a:lnSpc>
                          <a:spcPct val="100000"/>
                        </a:lnSpc>
                        <a:spcBef>
                          <a:spcPts val="0"/>
                        </a:spcBef>
                        <a:buNone/>
                      </a:pPr>
                      <a:r>
                        <a:rPr lang="en-US" sz="1700" b="1" dirty="0">
                          <a:solidFill>
                            <a:srgbClr val="000000"/>
                          </a:solidFill>
                          <a:latin typeface="Calibri"/>
                        </a:rPr>
                        <a:t>Backend and storage</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D0D8E8"/>
                    </a:solidFill>
                  </a:tcPr>
                </a:tc>
                <a:tc>
                  <a:txBody>
                    <a:bodyPr/>
                    <a:lstStyle/>
                    <a:p>
                      <a:pPr marL="0" indent="0">
                        <a:lnSpc>
                          <a:spcPct val="100000"/>
                        </a:lnSpc>
                        <a:spcBef>
                          <a:spcPts val="0"/>
                        </a:spcBef>
                        <a:buNone/>
                      </a:pPr>
                      <a:r>
                        <a:rPr lang="en-US" sz="1600" b="0" dirty="0">
                          <a:solidFill>
                            <a:srgbClr val="000000"/>
                          </a:solidFill>
                          <a:latin typeface="Calibri"/>
                        </a:rPr>
                        <a:t>Python 3.12 (runtime), Flask &amp; Flask-CORS (RESTful API), SQLite3 in WAL mode (high-speed concurrent storage, </a:t>
                      </a:r>
                      <a:r>
                        <a:rPr lang="en-US" sz="1600" b="0" dirty="0" err="1">
                          <a:solidFill>
                            <a:srgbClr val="000000"/>
                          </a:solidFill>
                          <a:latin typeface="Calibri"/>
                        </a:rPr>
                        <a:t>parameterised</a:t>
                      </a:r>
                      <a:r>
                        <a:rPr lang="en-US" sz="1600" b="0" dirty="0">
                          <a:solidFill>
                            <a:srgbClr val="000000"/>
                          </a:solidFill>
                          <a:latin typeface="Calibri"/>
                        </a:rPr>
                        <a:t> SQL, and version-controlled schema store), Pandas (reading &amp; </a:t>
                      </a:r>
                      <a:r>
                        <a:rPr lang="en-US" sz="1600" b="0" dirty="0" err="1">
                          <a:solidFill>
                            <a:srgbClr val="000000"/>
                          </a:solidFill>
                          <a:latin typeface="Calibri"/>
                        </a:rPr>
                        <a:t>standardising</a:t>
                      </a:r>
                      <a:r>
                        <a:rPr lang="en-US" sz="1600" b="0" dirty="0">
                          <a:solidFill>
                            <a:srgbClr val="000000"/>
                          </a:solidFill>
                          <a:latin typeface="Calibri"/>
                        </a:rPr>
                        <a:t> historical Excel files)</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D0D8E8"/>
                    </a:solidFill>
                  </a:tcPr>
                </a:tc>
                <a:extLst>
                  <a:ext uri="{0D108BD9-81ED-4DB2-BD59-A6C34878D82A}">
                    <a16:rowId xmlns:a16="http://schemas.microsoft.com/office/drawing/2014/main" val="10001"/>
                  </a:ext>
                </a:extLst>
              </a:tr>
              <a:tr h="1000000">
                <a:tc>
                  <a:txBody>
                    <a:bodyPr/>
                    <a:lstStyle/>
                    <a:p>
                      <a:pPr marL="0" indent="0">
                        <a:lnSpc>
                          <a:spcPct val="100000"/>
                        </a:lnSpc>
                        <a:spcBef>
                          <a:spcPts val="0"/>
                        </a:spcBef>
                        <a:buNone/>
                      </a:pPr>
                      <a:r>
                        <a:rPr lang="en-US" sz="1700" b="1">
                          <a:solidFill>
                            <a:srgbClr val="000000"/>
                          </a:solidFill>
                          <a:latin typeface="Calibri"/>
                        </a:rPr>
                        <a:t>NLP and AI</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E9EDF4"/>
                    </a:solidFill>
                  </a:tcPr>
                </a:tc>
                <a:tc>
                  <a:txBody>
                    <a:bodyPr/>
                    <a:lstStyle/>
                    <a:p>
                      <a:pPr marL="0" indent="0">
                        <a:lnSpc>
                          <a:spcPct val="100000"/>
                        </a:lnSpc>
                        <a:spcBef>
                          <a:spcPts val="0"/>
                        </a:spcBef>
                        <a:buNone/>
                      </a:pPr>
                      <a:r>
                        <a:rPr lang="en-US" sz="1600" b="0" dirty="0" err="1">
                          <a:solidFill>
                            <a:srgbClr val="000000"/>
                          </a:solidFill>
                          <a:latin typeface="Calibri"/>
                        </a:rPr>
                        <a:t>spaCy</a:t>
                      </a:r>
                      <a:r>
                        <a:rPr lang="en-US" sz="1600" b="0" dirty="0">
                          <a:solidFill>
                            <a:srgbClr val="000000"/>
                          </a:solidFill>
                          <a:latin typeface="Calibri"/>
                        </a:rPr>
                        <a:t> (</a:t>
                      </a:r>
                      <a:r>
                        <a:rPr lang="en-US" sz="1600" b="0" dirty="0" err="1">
                          <a:solidFill>
                            <a:srgbClr val="000000"/>
                          </a:solidFill>
                          <a:latin typeface="Calibri"/>
                        </a:rPr>
                        <a:t>en_core_web_sm</a:t>
                      </a:r>
                      <a:r>
                        <a:rPr lang="en-US" sz="1600" b="0" dirty="0">
                          <a:solidFill>
                            <a:srgbClr val="000000"/>
                          </a:solidFill>
                          <a:latin typeface="Calibri"/>
                        </a:rPr>
                        <a:t>) &amp; Regex (entity extraction for dates, persons, organizers, and venues), </a:t>
                      </a:r>
                      <a:r>
                        <a:rPr lang="en-US" sz="1600" b="0" dirty="0" err="1">
                          <a:solidFill>
                            <a:srgbClr val="000000"/>
                          </a:solidFill>
                          <a:latin typeface="Calibri"/>
                        </a:rPr>
                        <a:t>RapidFuzz</a:t>
                      </a:r>
                      <a:r>
                        <a:rPr lang="en-US" sz="1600" b="0" dirty="0">
                          <a:solidFill>
                            <a:srgbClr val="000000"/>
                          </a:solidFill>
                          <a:latin typeface="Calibri"/>
                        </a:rPr>
                        <a:t> (token-level fuzzy matching for cross-source deduplication), LLM / Generative AI — </a:t>
                      </a:r>
                      <a:r>
                        <a:rPr lang="en-US" sz="1600" b="0" dirty="0" err="1">
                          <a:solidFill>
                            <a:srgbClr val="000000"/>
                          </a:solidFill>
                          <a:latin typeface="Calibri"/>
                        </a:rPr>
                        <a:t>Groq</a:t>
                      </a:r>
                      <a:r>
                        <a:rPr lang="en-US" sz="1600" b="0" dirty="0">
                          <a:solidFill>
                            <a:srgbClr val="000000"/>
                          </a:solidFill>
                          <a:latin typeface="Calibri"/>
                        </a:rPr>
                        <a:t> &amp; Gemini (deep category classification and dynamic schema layout recommendations)</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E9EDF4"/>
                    </a:solidFill>
                  </a:tcPr>
                </a:tc>
                <a:extLst>
                  <a:ext uri="{0D108BD9-81ED-4DB2-BD59-A6C34878D82A}">
                    <a16:rowId xmlns:a16="http://schemas.microsoft.com/office/drawing/2014/main" val="10002"/>
                  </a:ext>
                </a:extLst>
              </a:tr>
              <a:tr h="1000000">
                <a:tc>
                  <a:txBody>
                    <a:bodyPr/>
                    <a:lstStyle/>
                    <a:p>
                      <a:pPr marL="0" indent="0">
                        <a:lnSpc>
                          <a:spcPct val="100000"/>
                        </a:lnSpc>
                        <a:spcBef>
                          <a:spcPts val="0"/>
                        </a:spcBef>
                        <a:buNone/>
                      </a:pPr>
                      <a:r>
                        <a:rPr lang="en-US" sz="1700" b="1">
                          <a:solidFill>
                            <a:srgbClr val="000000"/>
                          </a:solidFill>
                          <a:latin typeface="Calibri"/>
                        </a:rPr>
                        <a:t>Frontend</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D0D8E8"/>
                    </a:solidFill>
                  </a:tcPr>
                </a:tc>
                <a:tc>
                  <a:txBody>
                    <a:bodyPr/>
                    <a:lstStyle/>
                    <a:p>
                      <a:pPr marL="0" indent="0">
                        <a:lnSpc>
                          <a:spcPct val="100000"/>
                        </a:lnSpc>
                        <a:spcBef>
                          <a:spcPts val="0"/>
                        </a:spcBef>
                        <a:buNone/>
                      </a:pPr>
                      <a:r>
                        <a:rPr lang="en-US" sz="1600" b="0" dirty="0">
                          <a:solidFill>
                            <a:srgbClr val="000000"/>
                          </a:solidFill>
                          <a:latin typeface="Calibri"/>
                        </a:rPr>
                        <a:t>React 19 &amp; </a:t>
                      </a:r>
                      <a:r>
                        <a:rPr lang="en-US" sz="1600" b="0" dirty="0" err="1">
                          <a:solidFill>
                            <a:srgbClr val="000000"/>
                          </a:solidFill>
                          <a:latin typeface="Calibri"/>
                        </a:rPr>
                        <a:t>Vite</a:t>
                      </a:r>
                      <a:r>
                        <a:rPr lang="en-US" sz="1600" b="0" dirty="0">
                          <a:solidFill>
                            <a:srgbClr val="000000"/>
                          </a:solidFill>
                          <a:latin typeface="Calibri"/>
                        </a:rPr>
                        <a:t> 8 (single page dashboard), React Router v7 (navigation &amp; drill-down flow), Recharts (analytics charts), Vanilla CSS (clean, responsive UI design)</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D0D8E8"/>
                    </a:solidFill>
                  </a:tcPr>
                </a:tc>
                <a:extLst>
                  <a:ext uri="{0D108BD9-81ED-4DB2-BD59-A6C34878D82A}">
                    <a16:rowId xmlns:a16="http://schemas.microsoft.com/office/drawing/2014/main" val="10003"/>
                  </a:ext>
                </a:extLst>
              </a:tr>
              <a:tr h="1000000">
                <a:tc>
                  <a:txBody>
                    <a:bodyPr/>
                    <a:lstStyle/>
                    <a:p>
                      <a:pPr marL="0" indent="0">
                        <a:lnSpc>
                          <a:spcPct val="100000"/>
                        </a:lnSpc>
                        <a:spcBef>
                          <a:spcPts val="0"/>
                        </a:spcBef>
                        <a:buNone/>
                      </a:pPr>
                      <a:r>
                        <a:rPr lang="en-US" sz="1700" b="1" dirty="0">
                          <a:solidFill>
                            <a:srgbClr val="000000"/>
                          </a:solidFill>
                          <a:latin typeface="Calibri"/>
                        </a:rPr>
                        <a:t>Data, Export and Testing</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E9EDF4"/>
                    </a:solidFill>
                  </a:tcPr>
                </a:tc>
                <a:tc>
                  <a:txBody>
                    <a:bodyPr/>
                    <a:lstStyle/>
                    <a:p>
                      <a:pPr marL="0" indent="0">
                        <a:lnSpc>
                          <a:spcPct val="100000"/>
                        </a:lnSpc>
                        <a:spcBef>
                          <a:spcPts val="0"/>
                        </a:spcBef>
                        <a:buNone/>
                      </a:pPr>
                      <a:r>
                        <a:rPr lang="en-US" sz="1600" b="0" dirty="0" err="1">
                          <a:solidFill>
                            <a:srgbClr val="000000"/>
                          </a:solidFill>
                          <a:latin typeface="Calibri"/>
                        </a:rPr>
                        <a:t>Apify</a:t>
                      </a:r>
                      <a:r>
                        <a:rPr lang="en-US" sz="1600" b="0" dirty="0">
                          <a:solidFill>
                            <a:srgbClr val="000000"/>
                          </a:solidFill>
                          <a:latin typeface="Calibri"/>
                        </a:rPr>
                        <a:t> LinkedIn Actor (scheduled post collection), </a:t>
                      </a:r>
                      <a:r>
                        <a:rPr lang="en-US" sz="1600" b="0" dirty="0" err="1">
                          <a:solidFill>
                            <a:srgbClr val="000000"/>
                          </a:solidFill>
                          <a:latin typeface="Calibri"/>
                        </a:rPr>
                        <a:t>OpenPyXL</a:t>
                      </a:r>
                      <a:r>
                        <a:rPr lang="en-US" sz="1600" b="0" dirty="0">
                          <a:solidFill>
                            <a:srgbClr val="000000"/>
                          </a:solidFill>
                          <a:latin typeface="Calibri"/>
                        </a:rPr>
                        <a:t> (formatted Excel report generation), </a:t>
                      </a:r>
                      <a:r>
                        <a:rPr lang="en-US" sz="1600" b="0" dirty="0" err="1">
                          <a:solidFill>
                            <a:srgbClr val="000000"/>
                          </a:solidFill>
                          <a:latin typeface="Calibri"/>
                        </a:rPr>
                        <a:t>ReportLab</a:t>
                      </a:r>
                      <a:r>
                        <a:rPr lang="en-US" sz="1600" b="0" dirty="0">
                          <a:solidFill>
                            <a:srgbClr val="000000"/>
                          </a:solidFill>
                          <a:latin typeface="Calibri"/>
                        </a:rPr>
                        <a:t> (audit-ready PDF export), </a:t>
                      </a:r>
                      <a:r>
                        <a:rPr lang="en-US" sz="1600" b="0" dirty="0" err="1">
                          <a:solidFill>
                            <a:srgbClr val="000000"/>
                          </a:solidFill>
                          <a:latin typeface="Calibri"/>
                        </a:rPr>
                        <a:t>Pytest</a:t>
                      </a:r>
                      <a:r>
                        <a:rPr lang="en-US" sz="1600" b="0" dirty="0">
                          <a:solidFill>
                            <a:srgbClr val="000000"/>
                          </a:solidFill>
                          <a:latin typeface="Calibri"/>
                        </a:rPr>
                        <a:t> &amp; </a:t>
                      </a:r>
                      <a:r>
                        <a:rPr lang="en-US" sz="1600" b="0" dirty="0" err="1">
                          <a:solidFill>
                            <a:srgbClr val="000000"/>
                          </a:solidFill>
                          <a:latin typeface="Calibri"/>
                        </a:rPr>
                        <a:t>Vitest</a:t>
                      </a:r>
                      <a:r>
                        <a:rPr lang="en-US" sz="1600" b="0" dirty="0">
                          <a:solidFill>
                            <a:srgbClr val="000000"/>
                          </a:solidFill>
                          <a:latin typeface="Calibri"/>
                        </a:rPr>
                        <a:t> (backend &amp; frontend automated testing)</a:t>
                      </a:r>
                    </a:p>
                  </a:txBody>
                  <a:tcPr marL="72000" marR="72000" marT="36000" marB="36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E9ED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dirty="0">
                <a:solidFill>
                  <a:srgbClr val="000000"/>
                </a:solidFill>
                <a:latin typeface="Calibri"/>
              </a:rPr>
              <a:t>Module description</a:t>
            </a:r>
          </a:p>
        </p:txBody>
      </p:sp>
      <p:sp>
        <p:nvSpPr>
          <p:cNvPr id="52" name="TextBox 51"/>
          <p:cNvSpPr txBox="1"/>
          <p:nvPr/>
        </p:nvSpPr>
        <p:spPr>
          <a:xfrm>
            <a:off x="457200" y="1600200"/>
            <a:ext cx="8229600" cy="4525920"/>
          </a:xfrm>
          <a:prstGeom prst="rect">
            <a:avLst/>
          </a:prstGeom>
          <a:noFill/>
          <a:ln w="0">
            <a:noFill/>
          </a:ln>
        </p:spPr>
        <p:txBody>
          <a:bodyPr anchor="t">
            <a:normAutofit fontScale="92500" lnSpcReduction="10000"/>
          </a:bodyPr>
          <a:lstStyle/>
          <a:p>
            <a:pPr marL="285750" indent="-285750">
              <a:lnSpc>
                <a:spcPct val="100000"/>
              </a:lnSpc>
              <a:spcBef>
                <a:spcPts val="500"/>
              </a:spcBef>
              <a:buClr>
                <a:srgbClr val="000000"/>
              </a:buClr>
              <a:buFont typeface="Arial"/>
              <a:buChar char="•"/>
            </a:pPr>
            <a:r>
              <a:rPr lang="en-US" sz="2000" b="1" dirty="0">
                <a:solidFill>
                  <a:srgbClr val="000000"/>
                </a:solidFill>
                <a:latin typeface="Calibri"/>
              </a:rPr>
              <a:t>Module 1 - Data ingestion and de-duplication: </a:t>
            </a:r>
            <a:r>
              <a:rPr lang="en-US" sz="2000" b="0" dirty="0">
                <a:solidFill>
                  <a:srgbClr val="000000"/>
                </a:solidFill>
                <a:latin typeface="Calibri"/>
              </a:rPr>
              <a:t>reads the historical workbooks and weekly </a:t>
            </a:r>
            <a:r>
              <a:rPr lang="en-US" sz="2000" b="0" dirty="0" err="1">
                <a:solidFill>
                  <a:srgbClr val="000000"/>
                </a:solidFill>
                <a:latin typeface="Calibri"/>
              </a:rPr>
              <a:t>Apify</a:t>
            </a:r>
            <a:r>
              <a:rPr lang="en-US" sz="2000" b="0" dirty="0">
                <a:solidFill>
                  <a:srgbClr val="000000"/>
                </a:solidFill>
                <a:latin typeface="Calibri"/>
              </a:rPr>
              <a:t> LinkedIn posts, checks mandatory fields, parses date ranges and removes near-duplicate records with </a:t>
            </a:r>
            <a:r>
              <a:rPr lang="en-US" sz="2000" b="0" dirty="0" err="1">
                <a:solidFill>
                  <a:srgbClr val="000000"/>
                </a:solidFill>
                <a:latin typeface="Calibri"/>
              </a:rPr>
              <a:t>RapidFuzz</a:t>
            </a:r>
            <a:r>
              <a:rPr lang="en-US" sz="2000" b="0" dirty="0">
                <a:solidFill>
                  <a:srgbClr val="000000"/>
                </a:solidFill>
                <a:latin typeface="Calibri"/>
              </a:rPr>
              <a:t>.</a:t>
            </a:r>
          </a:p>
          <a:p>
            <a:pPr marL="285750" indent="-285750">
              <a:lnSpc>
                <a:spcPct val="100000"/>
              </a:lnSpc>
              <a:spcBef>
                <a:spcPts val="900"/>
              </a:spcBef>
              <a:buClr>
                <a:srgbClr val="000000"/>
              </a:buClr>
              <a:buFont typeface="Arial"/>
              <a:buChar char="•"/>
            </a:pPr>
            <a:r>
              <a:rPr lang="en-US" sz="2000" b="1" dirty="0">
                <a:solidFill>
                  <a:srgbClr val="000000"/>
                </a:solidFill>
                <a:latin typeface="Calibri"/>
              </a:rPr>
              <a:t>Module 2 - NLP classification and extraction: </a:t>
            </a:r>
            <a:r>
              <a:rPr lang="en-US" sz="2000" b="0" dirty="0">
                <a:solidFill>
                  <a:srgbClr val="000000"/>
                </a:solidFill>
                <a:latin typeface="Calibri"/>
              </a:rPr>
              <a:t>assigns each activity to one of </a:t>
            </a:r>
            <a:r>
              <a:rPr lang="en-US" sz="2000" dirty="0">
                <a:solidFill>
                  <a:srgbClr val="000000"/>
                </a:solidFill>
                <a:latin typeface="Calibri"/>
              </a:rPr>
              <a:t>19 </a:t>
            </a:r>
            <a:r>
              <a:rPr lang="en-US" sz="2000" b="0" dirty="0">
                <a:solidFill>
                  <a:srgbClr val="000000"/>
                </a:solidFill>
                <a:latin typeface="Calibri"/>
              </a:rPr>
              <a:t>categories, 17 departments and 3 stakeholders, and extracts research milestones (patents, funded projects, publications), grant agencies, sanctioned amounts and inventors.</a:t>
            </a:r>
          </a:p>
          <a:p>
            <a:pPr marL="285750" indent="-285750">
              <a:lnSpc>
                <a:spcPct val="100000"/>
              </a:lnSpc>
              <a:spcBef>
                <a:spcPts val="900"/>
              </a:spcBef>
              <a:buClr>
                <a:srgbClr val="000000"/>
              </a:buClr>
              <a:buFont typeface="Arial"/>
              <a:buChar char="•"/>
            </a:pPr>
            <a:r>
              <a:rPr lang="en-US" sz="2000" b="1" dirty="0">
                <a:solidFill>
                  <a:srgbClr val="000000"/>
                </a:solidFill>
                <a:latin typeface="Calibri"/>
              </a:rPr>
              <a:t>Module 3 - Dynamic schema induction and governance: </a:t>
            </a:r>
            <a:r>
              <a:rPr lang="en-US" sz="2000" b="0" dirty="0">
                <a:solidFill>
                  <a:srgbClr val="000000"/>
                </a:solidFill>
                <a:latin typeface="Calibri"/>
              </a:rPr>
              <a:t>measures how often each field is actually filled (coverage of at least 0.15) for every Category, Journey Type and Milestone, suggests 'Balanced', 'Focused' and 'Comprehensive' layouts, and lets the admin reorder or remove columns before freezing a versioned schema.</a:t>
            </a:r>
          </a:p>
          <a:p>
            <a:pPr marL="285750" indent="-285750">
              <a:lnSpc>
                <a:spcPct val="100000"/>
              </a:lnSpc>
              <a:spcBef>
                <a:spcPts val="900"/>
              </a:spcBef>
              <a:buClr>
                <a:srgbClr val="000000"/>
              </a:buClr>
              <a:buFont typeface="Arial"/>
              <a:buChar char="•"/>
            </a:pPr>
            <a:r>
              <a:rPr lang="en-US" sz="2000" b="1" dirty="0">
                <a:solidFill>
                  <a:srgbClr val="000000"/>
                </a:solidFill>
                <a:latin typeface="Calibri"/>
              </a:rPr>
              <a:t>Module 4 - Journey portal and reports: </a:t>
            </a:r>
            <a:r>
              <a:rPr lang="en-US" sz="2000" b="0" dirty="0">
                <a:solidFill>
                  <a:srgbClr val="000000"/>
                </a:solidFill>
                <a:latin typeface="Calibri"/>
              </a:rPr>
              <a:t>a React dashboard with period, category and stakeholder drill-downs, natural language queries converted to safe </a:t>
            </a:r>
            <a:r>
              <a:rPr lang="en-US" sz="2000" b="0" dirty="0" err="1">
                <a:solidFill>
                  <a:srgbClr val="000000"/>
                </a:solidFill>
                <a:latin typeface="Calibri"/>
              </a:rPr>
              <a:t>parameterised</a:t>
            </a:r>
            <a:r>
              <a:rPr lang="en-US" sz="2000" b="0" dirty="0">
                <a:solidFill>
                  <a:srgbClr val="000000"/>
                </a:solidFill>
                <a:latin typeface="Calibri"/>
              </a:rPr>
              <a:t> SQL, and Excel and PDF export for accreditation</a:t>
            </a:r>
            <a:r>
              <a:rPr lang="en-US" sz="1800" b="0" dirty="0">
                <a:solidFill>
                  <a:srgbClr val="000000"/>
                </a:solidFill>
                <a:latin typeface="Calibri"/>
              </a:rPr>
              <a:t>.</a:t>
            </a:r>
          </a:p>
        </p:txBody>
      </p:sp>
      <p:sp>
        <p:nvSpPr>
          <p:cNvPr id="53"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sp>
        <p:nvSpPr>
          <p:cNvPr id="55"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320"/>
            <a:ext cx="8229600" cy="1143000"/>
          </a:xfrm>
          <a:prstGeom prst="rect">
            <a:avLst/>
          </a:prstGeom>
          <a:noFill/>
          <a:ln w="0">
            <a:noFill/>
          </a:ln>
        </p:spPr>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a:solidFill>
                  <a:srgbClr val="000000"/>
                </a:solidFill>
                <a:latin typeface="Calibri"/>
              </a:rPr>
              <a:t>Proposed Block Diagram</a:t>
            </a:r>
            <a:endParaRPr lang="en-US" sz="4400" b="0" strike="noStrike" spc="-1">
              <a:solidFill>
                <a:srgbClr val="000000"/>
              </a:solidFill>
              <a:latin typeface="Calibri"/>
            </a:endParaRPr>
          </a:p>
        </p:txBody>
      </p:sp>
      <p:sp>
        <p:nvSpPr>
          <p:cNvPr id="5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Arial"/>
            </a:endParaRPr>
          </a:p>
        </p:txBody>
      </p:sp>
      <p:sp>
        <p:nvSpPr>
          <p:cNvPr id="61" name="Rectangle 60"/>
          <p:cNvSpPr/>
          <p:nvPr/>
        </p:nvSpPr>
        <p:spPr>
          <a:xfrm>
            <a:off x="457200" y="1600200"/>
            <a:ext cx="1150000" cy="1250000"/>
          </a:xfrm>
          <a:prstGeom prst="rect">
            <a:avLst/>
          </a:prstGeom>
          <a:solidFill>
            <a:srgbClr val="4F81BD"/>
          </a:solidFill>
          <a:ln>
            <a:noFill/>
          </a:ln>
        </p:spPr>
        <p:txBody>
          <a:bodyPr lIns="54000" tIns="36000" rIns="54000" bIns="36000" rtlCol="0" anchor="ctr"/>
          <a:lstStyle/>
          <a:p>
            <a:pPr marL="0" indent="0" algn="ctr">
              <a:lnSpc>
                <a:spcPct val="100000"/>
              </a:lnSpc>
              <a:spcBef>
                <a:spcPts val="0"/>
              </a:spcBef>
              <a:buNone/>
            </a:pPr>
            <a:r>
              <a:rPr lang="en-US" sz="1400" b="1">
                <a:solidFill>
                  <a:srgbClr val="FFFFFF"/>
                </a:solidFill>
                <a:latin typeface="Calibri"/>
              </a:rPr>
              <a:t>INPUT</a:t>
            </a:r>
          </a:p>
        </p:txBody>
      </p:sp>
      <p:sp>
        <p:nvSpPr>
          <p:cNvPr id="62" name="Rectangle 61"/>
          <p:cNvSpPr/>
          <p:nvPr/>
        </p:nvSpPr>
        <p:spPr>
          <a:xfrm>
            <a:off x="1697200" y="1600200"/>
            <a:ext cx="170240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dirty="0">
                <a:solidFill>
                  <a:srgbClr val="000000"/>
                </a:solidFill>
                <a:latin typeface="Calibri"/>
              </a:rPr>
              <a:t>5 historical Excel workbooks (2023-24 to 2026-27)</a:t>
            </a:r>
          </a:p>
        </p:txBody>
      </p:sp>
      <p:sp>
        <p:nvSpPr>
          <p:cNvPr id="63" name="Rectangle 62"/>
          <p:cNvSpPr/>
          <p:nvPr/>
        </p:nvSpPr>
        <p:spPr>
          <a:xfrm>
            <a:off x="3459600" y="1600200"/>
            <a:ext cx="170240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Public TCE web pages (robots.txt compliant)</a:t>
            </a:r>
          </a:p>
        </p:txBody>
      </p:sp>
      <p:sp>
        <p:nvSpPr>
          <p:cNvPr id="64" name="Rectangle 63"/>
          <p:cNvSpPr/>
          <p:nvPr/>
        </p:nvSpPr>
        <p:spPr>
          <a:xfrm>
            <a:off x="5222000" y="1600200"/>
            <a:ext cx="170240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Apify LinkedIn live post feed</a:t>
            </a:r>
          </a:p>
        </p:txBody>
      </p:sp>
      <p:sp>
        <p:nvSpPr>
          <p:cNvPr id="65" name="Rectangle 64"/>
          <p:cNvSpPr/>
          <p:nvPr/>
        </p:nvSpPr>
        <p:spPr>
          <a:xfrm>
            <a:off x="6984400" y="1600200"/>
            <a:ext cx="170240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dirty="0">
                <a:solidFill>
                  <a:srgbClr val="000000"/>
                </a:solidFill>
                <a:latin typeface="Calibri"/>
              </a:rPr>
              <a:t>Reference seeds: </a:t>
            </a:r>
            <a:r>
              <a:rPr lang="en-US" sz="1200" dirty="0">
                <a:solidFill>
                  <a:srgbClr val="000000"/>
                </a:solidFill>
                <a:latin typeface="Calibri"/>
              </a:rPr>
              <a:t>17</a:t>
            </a:r>
            <a:r>
              <a:rPr lang="en-US" sz="1200" b="0" dirty="0">
                <a:solidFill>
                  <a:srgbClr val="000000"/>
                </a:solidFill>
                <a:latin typeface="Calibri"/>
              </a:rPr>
              <a:t> departments, </a:t>
            </a:r>
            <a:r>
              <a:rPr lang="en-US" sz="1200" dirty="0">
                <a:solidFill>
                  <a:srgbClr val="000000"/>
                </a:solidFill>
                <a:latin typeface="Calibri"/>
              </a:rPr>
              <a:t>19 </a:t>
            </a:r>
            <a:r>
              <a:rPr lang="en-US" sz="1200" b="0" dirty="0">
                <a:solidFill>
                  <a:srgbClr val="000000"/>
                </a:solidFill>
                <a:latin typeface="Calibri"/>
              </a:rPr>
              <a:t>categories, </a:t>
            </a:r>
            <a:r>
              <a:rPr lang="en-US" sz="1200" dirty="0">
                <a:solidFill>
                  <a:srgbClr val="000000"/>
                </a:solidFill>
                <a:latin typeface="Calibri"/>
              </a:rPr>
              <a:t>3 </a:t>
            </a:r>
            <a:r>
              <a:rPr lang="en-US" sz="1200" b="0" dirty="0">
                <a:solidFill>
                  <a:srgbClr val="000000"/>
                </a:solidFill>
                <a:latin typeface="Calibri"/>
              </a:rPr>
              <a:t>stakeholders</a:t>
            </a:r>
          </a:p>
        </p:txBody>
      </p:sp>
      <p:sp>
        <p:nvSpPr>
          <p:cNvPr id="66" name="Rectangle 65"/>
          <p:cNvSpPr/>
          <p:nvPr/>
        </p:nvSpPr>
        <p:spPr>
          <a:xfrm>
            <a:off x="457200" y="3230200"/>
            <a:ext cx="1150000" cy="1250000"/>
          </a:xfrm>
          <a:prstGeom prst="rect">
            <a:avLst/>
          </a:prstGeom>
          <a:solidFill>
            <a:srgbClr val="4F81BD"/>
          </a:solidFill>
          <a:ln>
            <a:noFill/>
          </a:ln>
        </p:spPr>
        <p:txBody>
          <a:bodyPr lIns="54000" tIns="36000" rIns="54000" bIns="36000" rtlCol="0" anchor="ctr"/>
          <a:lstStyle/>
          <a:p>
            <a:pPr marL="0" indent="0" algn="ctr">
              <a:lnSpc>
                <a:spcPct val="100000"/>
              </a:lnSpc>
              <a:spcBef>
                <a:spcPts val="0"/>
              </a:spcBef>
              <a:buNone/>
            </a:pPr>
            <a:r>
              <a:rPr lang="en-US" sz="1400" b="1">
                <a:solidFill>
                  <a:srgbClr val="FFFFFF"/>
                </a:solidFill>
                <a:latin typeface="Calibri"/>
              </a:rPr>
              <a:t>PROCESSING</a:t>
            </a:r>
          </a:p>
        </p:txBody>
      </p:sp>
      <p:sp>
        <p:nvSpPr>
          <p:cNvPr id="67" name="Rectangle 66"/>
          <p:cNvSpPr/>
          <p:nvPr/>
        </p:nvSpPr>
        <p:spPr>
          <a:xfrm>
            <a:off x="1697200" y="323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1. Normalisation and de-duplication (RapidFuzz)</a:t>
            </a:r>
          </a:p>
        </p:txBody>
      </p:sp>
      <p:sp>
        <p:nvSpPr>
          <p:cNvPr id="68" name="Rectangle 67"/>
          <p:cNvSpPr/>
          <p:nvPr/>
        </p:nvSpPr>
        <p:spPr>
          <a:xfrm>
            <a:off x="3107120" y="323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2. NLP classification (rules + Gemini)</a:t>
            </a:r>
          </a:p>
        </p:txBody>
      </p:sp>
      <p:sp>
        <p:nvSpPr>
          <p:cNvPr id="69" name="Rectangle 68"/>
          <p:cNvSpPr/>
          <p:nvPr/>
        </p:nvSpPr>
        <p:spPr>
          <a:xfrm>
            <a:off x="4517040" y="323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3. Attribute extraction (patents, grants, dates, venues)</a:t>
            </a:r>
          </a:p>
        </p:txBody>
      </p:sp>
      <p:sp>
        <p:nvSpPr>
          <p:cNvPr id="70" name="Rectangle 69"/>
          <p:cNvSpPr/>
          <p:nvPr/>
        </p:nvSpPr>
        <p:spPr>
          <a:xfrm>
            <a:off x="5926960" y="323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4. Schema induction (coverage 0.15 + layout options)</a:t>
            </a:r>
          </a:p>
        </p:txBody>
      </p:sp>
      <p:sp>
        <p:nvSpPr>
          <p:cNvPr id="71" name="Rectangle 70"/>
          <p:cNvSpPr/>
          <p:nvPr/>
        </p:nvSpPr>
        <p:spPr>
          <a:xfrm>
            <a:off x="7336880" y="323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5. Admin review and schema freeze</a:t>
            </a:r>
          </a:p>
        </p:txBody>
      </p:sp>
      <p:sp>
        <p:nvSpPr>
          <p:cNvPr id="72" name="Rectangle 71"/>
          <p:cNvSpPr/>
          <p:nvPr/>
        </p:nvSpPr>
        <p:spPr>
          <a:xfrm>
            <a:off x="457200" y="4860200"/>
            <a:ext cx="1150000" cy="1250000"/>
          </a:xfrm>
          <a:prstGeom prst="rect">
            <a:avLst/>
          </a:prstGeom>
          <a:solidFill>
            <a:srgbClr val="4F81BD"/>
          </a:solidFill>
          <a:ln>
            <a:noFill/>
          </a:ln>
        </p:spPr>
        <p:txBody>
          <a:bodyPr lIns="54000" tIns="36000" rIns="54000" bIns="36000" rtlCol="0" anchor="ctr"/>
          <a:lstStyle/>
          <a:p>
            <a:pPr marL="0" indent="0" algn="ctr">
              <a:lnSpc>
                <a:spcPct val="100000"/>
              </a:lnSpc>
              <a:spcBef>
                <a:spcPts val="0"/>
              </a:spcBef>
              <a:buNone/>
            </a:pPr>
            <a:r>
              <a:rPr lang="en-US" sz="1400" b="1">
                <a:solidFill>
                  <a:srgbClr val="FFFFFF"/>
                </a:solidFill>
                <a:latin typeface="Calibri"/>
              </a:rPr>
              <a:t>OUTPUT</a:t>
            </a:r>
          </a:p>
        </p:txBody>
      </p:sp>
      <p:sp>
        <p:nvSpPr>
          <p:cNvPr id="73" name="Rectangle 72"/>
          <p:cNvSpPr/>
          <p:nvPr/>
        </p:nvSpPr>
        <p:spPr>
          <a:xfrm>
            <a:off x="1697200" y="486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React dashboard with drill-downs</a:t>
            </a:r>
          </a:p>
        </p:txBody>
      </p:sp>
      <p:sp>
        <p:nvSpPr>
          <p:cNvPr id="74" name="Rectangle 73"/>
          <p:cNvSpPr/>
          <p:nvPr/>
        </p:nvSpPr>
        <p:spPr>
          <a:xfrm>
            <a:off x="3107120" y="486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Natural language query search</a:t>
            </a:r>
          </a:p>
        </p:txBody>
      </p:sp>
      <p:sp>
        <p:nvSpPr>
          <p:cNvPr id="75" name="Rectangle 74"/>
          <p:cNvSpPr/>
          <p:nvPr/>
        </p:nvSpPr>
        <p:spPr>
          <a:xfrm>
            <a:off x="4517040" y="486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Induced schema views</a:t>
            </a:r>
          </a:p>
        </p:txBody>
      </p:sp>
      <p:sp>
        <p:nvSpPr>
          <p:cNvPr id="76" name="Rectangle 75"/>
          <p:cNvSpPr/>
          <p:nvPr/>
        </p:nvSpPr>
        <p:spPr>
          <a:xfrm>
            <a:off x="5926960" y="486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Synchronised Excel reports</a:t>
            </a:r>
          </a:p>
        </p:txBody>
      </p:sp>
      <p:sp>
        <p:nvSpPr>
          <p:cNvPr id="77" name="Rectangle 76"/>
          <p:cNvSpPr/>
          <p:nvPr/>
        </p:nvSpPr>
        <p:spPr>
          <a:xfrm>
            <a:off x="7336880" y="4860200"/>
            <a:ext cx="1349920" cy="12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1200" b="0">
                <a:solidFill>
                  <a:srgbClr val="000000"/>
                </a:solidFill>
                <a:latin typeface="Calibri"/>
              </a:rPr>
              <a:t>Accreditation PDF (NIRF / NAAC / NBA)</a:t>
            </a:r>
          </a:p>
        </p:txBody>
      </p:sp>
      <p:sp>
        <p:nvSpPr>
          <p:cNvPr id="78" name="Down Arrow 77"/>
          <p:cNvSpPr/>
          <p:nvPr/>
        </p:nvSpPr>
        <p:spPr>
          <a:xfrm>
            <a:off x="4422000" y="2910200"/>
            <a:ext cx="300000" cy="260000"/>
          </a:xfrm>
          <a:prstGeom prst="downArrow">
            <a:avLst/>
          </a:prstGeom>
          <a:solidFill>
            <a:srgbClr val="385D8A"/>
          </a:solidFill>
          <a:ln>
            <a:noFill/>
          </a:ln>
        </p:spPr>
        <p:txBody>
          <a:bodyPr lIns="54000" tIns="36000" rIns="54000" bIns="36000" rtlCol="0" anchor="ctr"/>
          <a:lstStyle/>
          <a:p>
            <a:pPr marL="0" indent="0">
              <a:lnSpc>
                <a:spcPct val="100000"/>
              </a:lnSpc>
              <a:spcBef>
                <a:spcPts val="600"/>
              </a:spcBef>
              <a:buNone/>
            </a:pPr>
            <a:endParaRPr/>
          </a:p>
        </p:txBody>
      </p:sp>
      <p:sp>
        <p:nvSpPr>
          <p:cNvPr id="79" name="Down Arrow 78"/>
          <p:cNvSpPr/>
          <p:nvPr/>
        </p:nvSpPr>
        <p:spPr>
          <a:xfrm>
            <a:off x="4422000" y="4540200"/>
            <a:ext cx="300000" cy="260000"/>
          </a:xfrm>
          <a:prstGeom prst="downArrow">
            <a:avLst/>
          </a:prstGeom>
          <a:solidFill>
            <a:srgbClr val="385D8A"/>
          </a:solidFill>
          <a:ln>
            <a:noFill/>
          </a:ln>
        </p:spPr>
        <p:txBody>
          <a:bodyPr lIns="54000" tIns="36000" rIns="54000" bIns="36000" rtlCol="0" anchor="ctr"/>
          <a:lstStyle/>
          <a:p>
            <a:pPr marL="0" indent="0">
              <a:lnSpc>
                <a:spcPct val="100000"/>
              </a:lnSpc>
              <a:spcBef>
                <a:spcPts val="600"/>
              </a:spcBef>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75488" y="274320"/>
            <a:ext cx="8211312" cy="1237488"/>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dirty="0">
                <a:solidFill>
                  <a:srgbClr val="000000"/>
                </a:solidFill>
                <a:latin typeface="Calibri"/>
              </a:rPr>
              <a:t>Conclusion and Future Work</a:t>
            </a:r>
          </a:p>
        </p:txBody>
      </p:sp>
      <p:sp>
        <p:nvSpPr>
          <p:cNvPr id="63"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0E5211B-73A3-46A1-A1CA-07F9571D0A89}"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64"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65"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E3A978A-39B3-4D33-9D13-C71BC3D3DD7C}" type="slidenum">
              <a:rPr lang="en-US" sz="1200" b="0" strike="noStrike" spc="-1">
                <a:solidFill>
                  <a:srgbClr val="898989"/>
                </a:solidFill>
                <a:latin typeface="Calibri"/>
                <a:ea typeface="Arial"/>
              </a:rPr>
              <a:t>8</a:t>
            </a:fld>
            <a:endParaRPr lang="en-US" sz="1200" b="0" strike="noStrike" spc="-1">
              <a:solidFill>
                <a:srgbClr val="000000"/>
              </a:solidFill>
              <a:latin typeface="Arial"/>
            </a:endParaRPr>
          </a:p>
        </p:txBody>
      </p:sp>
      <p:sp>
        <p:nvSpPr>
          <p:cNvPr id="66" name="TextBox 65"/>
          <p:cNvSpPr txBox="1"/>
          <p:nvPr/>
        </p:nvSpPr>
        <p:spPr>
          <a:xfrm>
            <a:off x="457200" y="1600200"/>
            <a:ext cx="8229600" cy="4525920"/>
          </a:xfrm>
          <a:prstGeom prst="rect">
            <a:avLst/>
          </a:prstGeom>
          <a:noFill/>
        </p:spPr>
        <p:txBody>
          <a:bodyPr wrap="square" anchor="t">
            <a:spAutoFit/>
          </a:bodyPr>
          <a:lstStyle/>
          <a:p>
            <a:pPr marL="0" indent="0">
              <a:lnSpc>
                <a:spcPct val="100000"/>
              </a:lnSpc>
              <a:spcBef>
                <a:spcPts val="0"/>
              </a:spcBef>
              <a:buNone/>
            </a:pPr>
            <a:r>
              <a:rPr lang="en-US" sz="2000" b="1" dirty="0">
                <a:solidFill>
                  <a:srgbClr val="385D8A"/>
                </a:solidFill>
                <a:latin typeface="Calibri"/>
              </a:rPr>
              <a:t>Conclusion</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Built and tested an end-to-end NLP and dynamic schema induction system for </a:t>
            </a:r>
            <a:r>
              <a:rPr lang="en-US" sz="1700" b="0" dirty="0" err="1">
                <a:solidFill>
                  <a:srgbClr val="000000"/>
                </a:solidFill>
                <a:latin typeface="Calibri"/>
              </a:rPr>
              <a:t>Thiagarajar</a:t>
            </a:r>
            <a:r>
              <a:rPr lang="en-US" sz="1700" b="0" dirty="0">
                <a:solidFill>
                  <a:srgbClr val="000000"/>
                </a:solidFill>
                <a:latin typeface="Calibri"/>
              </a:rPr>
              <a:t> College of Engineering.</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Manual data entry is replaced by automatic extraction and </a:t>
            </a:r>
            <a:r>
              <a:rPr lang="en-US" sz="1700" b="0" dirty="0" err="1">
                <a:solidFill>
                  <a:srgbClr val="000000"/>
                </a:solidFill>
                <a:latin typeface="Calibri"/>
              </a:rPr>
              <a:t>standardisation</a:t>
            </a:r>
            <a:r>
              <a:rPr lang="en-US" sz="1700" b="0" dirty="0">
                <a:solidFill>
                  <a:srgbClr val="000000"/>
                </a:solidFill>
                <a:latin typeface="Calibri"/>
              </a:rPr>
              <a:t> of records from 5 years of workbooks and the LinkedIn feed.</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The rigid-table problem is solved: columns adapt to each category (for example Patents vs Grants) without changing the database tables.</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Checked with 521 backend and 238 frontend automated tests, all passing.</a:t>
            </a:r>
          </a:p>
          <a:p>
            <a:pPr marL="0" indent="0">
              <a:lnSpc>
                <a:spcPct val="100000"/>
              </a:lnSpc>
              <a:spcBef>
                <a:spcPts val="1400"/>
              </a:spcBef>
              <a:buNone/>
            </a:pPr>
            <a:r>
              <a:rPr lang="en-US" sz="2000" b="1" dirty="0">
                <a:solidFill>
                  <a:srgbClr val="385D8A"/>
                </a:solidFill>
                <a:latin typeface="Calibri"/>
              </a:rPr>
              <a:t>Future Work</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Real-time webhooks from </a:t>
            </a:r>
            <a:r>
              <a:rPr lang="en-US" sz="1700" b="0" dirty="0" err="1">
                <a:solidFill>
                  <a:srgbClr val="000000"/>
                </a:solidFill>
                <a:latin typeface="Calibri"/>
              </a:rPr>
              <a:t>Apify</a:t>
            </a:r>
            <a:r>
              <a:rPr lang="en-US" sz="1700" b="0" dirty="0">
                <a:solidFill>
                  <a:srgbClr val="000000"/>
                </a:solidFill>
                <a:latin typeface="Calibri"/>
              </a:rPr>
              <a:t> / LinkedIn so new milestones are indexed immediately.</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Support for Tamil-English mixed announcements.</a:t>
            </a:r>
          </a:p>
          <a:p>
            <a:pPr marL="285750" indent="-285750">
              <a:lnSpc>
                <a:spcPct val="100000"/>
              </a:lnSpc>
              <a:spcBef>
                <a:spcPts val="200"/>
              </a:spcBef>
              <a:buClr>
                <a:srgbClr val="000000"/>
              </a:buClr>
              <a:buFont typeface="Arial"/>
              <a:buChar char="•"/>
            </a:pPr>
            <a:r>
              <a:rPr lang="en-US" sz="1700" b="0" dirty="0">
                <a:solidFill>
                  <a:srgbClr val="000000"/>
                </a:solidFill>
                <a:latin typeface="Calibri"/>
              </a:rPr>
              <a:t>Direct submission of the exports to the NAAC, NBA and NIRF portals.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a:solidFill>
                  <a:srgbClr val="000000"/>
                </a:solidFill>
                <a:latin typeface="Calibri"/>
              </a:rPr>
              <a:t>Results and inferences (1)</a:t>
            </a:r>
            <a:endParaRPr lang="en-US" sz="4400" b="0" strike="noStrike" spc="-1">
              <a:solidFill>
                <a:srgbClr val="000000"/>
              </a:solidFill>
              <a:latin typeface="Calibri"/>
            </a:endParaRPr>
          </a:p>
        </p:txBody>
      </p:sp>
      <p:sp>
        <p:nvSpPr>
          <p:cNvPr id="6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327412-DA97-4573-965B-7E05C4C39BB3}"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69"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7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4D55F7F-B648-47D9-BD8C-31F55F123C43}" type="slidenum">
              <a:rPr lang="en-US" sz="1200" b="0" strike="noStrike" spc="-1">
                <a:solidFill>
                  <a:srgbClr val="898989"/>
                </a:solidFill>
                <a:latin typeface="Calibri"/>
                <a:ea typeface="Arial"/>
              </a:rPr>
              <a:t>9</a:t>
            </a:fld>
            <a:endParaRPr lang="en-US" sz="1200" b="0" strike="noStrike" spc="-1">
              <a:solidFill>
                <a:srgbClr val="000000"/>
              </a:solidFill>
              <a:latin typeface="Arial"/>
            </a:endParaRPr>
          </a:p>
        </p:txBody>
      </p:sp>
      <p:graphicFrame>
        <p:nvGraphicFramePr>
          <p:cNvPr id="71" name="Chart 70"/>
          <p:cNvGraphicFramePr>
            <a:graphicFrameLocks noGrp="1"/>
          </p:cNvGraphicFramePr>
          <p:nvPr/>
        </p:nvGraphicFramePr>
        <p:xfrm>
          <a:off x="457200" y="1600200"/>
          <a:ext cx="4900000" cy="43000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p:cNvSpPr txBox="1"/>
          <p:nvPr/>
        </p:nvSpPr>
        <p:spPr>
          <a:xfrm>
            <a:off x="5500000" y="1600200"/>
            <a:ext cx="3186800" cy="4300000"/>
          </a:xfrm>
          <a:prstGeom prst="rect">
            <a:avLst/>
          </a:prstGeom>
          <a:noFill/>
        </p:spPr>
        <p:txBody>
          <a:bodyPr wrap="square" anchor="t">
            <a:spAutoFit/>
          </a:bodyPr>
          <a:lstStyle/>
          <a:p>
            <a:pPr marL="0" indent="0">
              <a:lnSpc>
                <a:spcPct val="100000"/>
              </a:lnSpc>
              <a:spcBef>
                <a:spcPts val="0"/>
              </a:spcBef>
              <a:buNone/>
            </a:pPr>
            <a:r>
              <a:rPr lang="en-US" sz="1800" b="1">
                <a:solidFill>
                  <a:srgbClr val="385D8A"/>
                </a:solidFill>
                <a:latin typeface="Calibri"/>
              </a:rPr>
              <a:t>What the graph shows</a:t>
            </a:r>
          </a:p>
          <a:p>
            <a:pPr marL="285750" indent="-285750">
              <a:lnSpc>
                <a:spcPct val="100000"/>
              </a:lnSpc>
              <a:spcBef>
                <a:spcPts val="200"/>
              </a:spcBef>
              <a:buClr>
                <a:srgbClr val="000000"/>
              </a:buClr>
              <a:buFont typeface="Arial"/>
              <a:buChar char="•"/>
            </a:pPr>
            <a:r>
              <a:rPr lang="en-US" sz="1500" b="0">
                <a:solidFill>
                  <a:srgbClr val="000000"/>
                </a:solidFill>
                <a:latin typeface="Calibri"/>
              </a:rPr>
              <a:t>The rule-based classifier scored a macro-F1 of 0.7347, far above Logistic Regression (0.29) and SVC (0.25).</a:t>
            </a:r>
          </a:p>
          <a:p>
            <a:pPr marL="285750" indent="-285750">
              <a:lnSpc>
                <a:spcPct val="100000"/>
              </a:lnSpc>
              <a:spcBef>
                <a:spcPts val="200"/>
              </a:spcBef>
              <a:buClr>
                <a:srgbClr val="000000"/>
              </a:buClr>
              <a:buFont typeface="Arial"/>
              <a:buChar char="•"/>
            </a:pPr>
            <a:r>
              <a:rPr lang="en-US" sz="1500" b="0">
                <a:solidFill>
                  <a:srgbClr val="000000"/>
                </a:solidFill>
                <a:latin typeface="Calibri"/>
              </a:rPr>
              <a:t>Naive Bayes scored 0, because it had zero recall on this sparse data.</a:t>
            </a:r>
          </a:p>
          <a:p>
            <a:pPr marL="285750" indent="-285750">
              <a:lnSpc>
                <a:spcPct val="100000"/>
              </a:lnSpc>
              <a:spcBef>
                <a:spcPts val="200"/>
              </a:spcBef>
              <a:buClr>
                <a:srgbClr val="000000"/>
              </a:buClr>
              <a:buFont typeface="Arial"/>
              <a:buChar char="•"/>
            </a:pPr>
            <a:r>
              <a:rPr lang="en-US" sz="1500" b="0">
                <a:solidFill>
                  <a:srgbClr val="000000"/>
                </a:solidFill>
                <a:latin typeface="Calibri"/>
              </a:rPr>
              <a:t>Academic activity text is short and has few examples per class, so statistical models struggle.</a:t>
            </a:r>
          </a:p>
          <a:p>
            <a:pPr marL="285750" indent="-285750">
              <a:lnSpc>
                <a:spcPct val="100000"/>
              </a:lnSpc>
              <a:spcBef>
                <a:spcPts val="200"/>
              </a:spcBef>
              <a:buClr>
                <a:srgbClr val="000000"/>
              </a:buClr>
              <a:buFont typeface="Arial"/>
              <a:buChar char="•"/>
            </a:pPr>
            <a:r>
              <a:rPr lang="en-US" sz="1500" b="0">
                <a:solidFill>
                  <a:srgbClr val="000000"/>
                </a:solidFill>
                <a:latin typeface="Calibri"/>
              </a:rPr>
              <a:t>Rules give the same output every time, so no made-up categories appear.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a:solidFill>
                  <a:srgbClr val="000000"/>
                </a:solidFill>
                <a:latin typeface="Calibri"/>
              </a:rPr>
              <a:t>Results and inferences (2)</a:t>
            </a:r>
            <a:endParaRPr lang="en-US" sz="4400" b="0" strike="noStrike" spc="-1">
              <a:solidFill>
                <a:srgbClr val="000000"/>
              </a:solidFill>
              <a:latin typeface="Calibri"/>
            </a:endParaRPr>
          </a:p>
        </p:txBody>
      </p:sp>
      <p:sp>
        <p:nvSpPr>
          <p:cNvPr id="6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327412-DA97-4573-965B-7E05C4C39BB3}"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69"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7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4D55F7F-B648-47D9-BD8C-31F55F123C43}" type="slidenum">
              <a:rPr lang="en-US" sz="1200" b="0" strike="noStrike" spc="-1">
                <a:solidFill>
                  <a:srgbClr val="898989"/>
                </a:solidFill>
                <a:latin typeface="Calibri"/>
                <a:ea typeface="Arial"/>
              </a:rPr>
              <a:t>10</a:t>
            </a:fld>
            <a:endParaRPr lang="en-US" sz="1200" b="0" strike="noStrike" spc="-1">
              <a:solidFill>
                <a:srgbClr val="000000"/>
              </a:solidFill>
              <a:latin typeface="Arial"/>
            </a:endParaRPr>
          </a:p>
        </p:txBody>
      </p:sp>
      <p:graphicFrame>
        <p:nvGraphicFramePr>
          <p:cNvPr id="71" name="Chart 70"/>
          <p:cNvGraphicFramePr>
            <a:graphicFrameLocks noGrp="1"/>
          </p:cNvGraphicFramePr>
          <p:nvPr/>
        </p:nvGraphicFramePr>
        <p:xfrm>
          <a:off x="457200" y="1600200"/>
          <a:ext cx="4900000" cy="43000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p:cNvSpPr txBox="1"/>
          <p:nvPr/>
        </p:nvSpPr>
        <p:spPr>
          <a:xfrm>
            <a:off x="5500000" y="1600200"/>
            <a:ext cx="3186800" cy="4300000"/>
          </a:xfrm>
          <a:prstGeom prst="rect">
            <a:avLst/>
          </a:prstGeom>
          <a:noFill/>
        </p:spPr>
        <p:txBody>
          <a:bodyPr wrap="square" anchor="t">
            <a:spAutoFit/>
          </a:bodyPr>
          <a:lstStyle/>
          <a:p>
            <a:pPr marL="0" indent="0">
              <a:lnSpc>
                <a:spcPct val="100000"/>
              </a:lnSpc>
              <a:spcBef>
                <a:spcPts val="0"/>
              </a:spcBef>
              <a:buNone/>
            </a:pPr>
            <a:r>
              <a:rPr lang="en-US" sz="1800" b="1">
                <a:solidFill>
                  <a:srgbClr val="385D8A"/>
                </a:solidFill>
                <a:latin typeface="Calibri"/>
              </a:rPr>
              <a:t>What the graph shows</a:t>
            </a:r>
          </a:p>
          <a:p>
            <a:pPr marL="285750" indent="-285750">
              <a:lnSpc>
                <a:spcPct val="100000"/>
              </a:lnSpc>
              <a:spcBef>
                <a:spcPts val="200"/>
              </a:spcBef>
              <a:buClr>
                <a:srgbClr val="000000"/>
              </a:buClr>
              <a:buFont typeface="Arial"/>
              <a:buChar char="•"/>
            </a:pPr>
            <a:r>
              <a:rPr lang="en-US" sz="1500" b="0">
                <a:solidFill>
                  <a:srgbClr val="000000"/>
                </a:solidFill>
                <a:latin typeface="Calibri"/>
              </a:rPr>
              <a:t>Micro-F1 (0.8312) is higher than macro-F1 (0.7347): common categories are classified well, rarer ones are harder.</a:t>
            </a:r>
          </a:p>
          <a:p>
            <a:pPr marL="285750" indent="-285750">
              <a:lnSpc>
                <a:spcPct val="100000"/>
              </a:lnSpc>
              <a:spcBef>
                <a:spcPts val="200"/>
              </a:spcBef>
              <a:buClr>
                <a:srgbClr val="000000"/>
              </a:buClr>
              <a:buFont typeface="Arial"/>
              <a:buChar char="•"/>
            </a:pPr>
            <a:r>
              <a:rPr lang="en-US" sz="1500" b="0">
                <a:solidFill>
                  <a:srgbClr val="000000"/>
                </a:solidFill>
                <a:latin typeface="Calibri"/>
              </a:rPr>
              <a:t>Department (14 classes) and stakeholder (8 classes) identification are both 80% accurate.</a:t>
            </a:r>
          </a:p>
          <a:p>
            <a:pPr marL="285750" indent="-285750">
              <a:lnSpc>
                <a:spcPct val="100000"/>
              </a:lnSpc>
              <a:spcBef>
                <a:spcPts val="200"/>
              </a:spcBef>
              <a:buClr>
                <a:srgbClr val="000000"/>
              </a:buClr>
              <a:buFont typeface="Arial"/>
              <a:buChar char="•"/>
            </a:pPr>
            <a:r>
              <a:rPr lang="en-US" sz="1500" b="0">
                <a:solidFill>
                  <a:srgbClr val="000000"/>
                </a:solidFill>
                <a:latin typeface="Calibri"/>
              </a:rPr>
              <a:t>Entity extraction has recall 1.0 and precision 0.667 (F1 0.80): it finds every real entity but also picks up a few extra ones.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a:solidFill>
                  <a:srgbClr val="000000"/>
                </a:solidFill>
                <a:latin typeface="Calibri"/>
              </a:rPr>
              <a:t>Results and inferences (3)</a:t>
            </a:r>
            <a:endParaRPr lang="en-US" sz="4400" b="0" strike="noStrike" spc="-1">
              <a:solidFill>
                <a:srgbClr val="000000"/>
              </a:solidFill>
              <a:latin typeface="Calibri"/>
            </a:endParaRPr>
          </a:p>
        </p:txBody>
      </p:sp>
      <p:sp>
        <p:nvSpPr>
          <p:cNvPr id="67" name="TextBox 66"/>
          <p:cNvSpPr txBox="1"/>
          <p:nvPr/>
        </p:nvSpPr>
        <p:spPr>
          <a:xfrm>
            <a:off x="457200" y="1600200"/>
            <a:ext cx="8229600" cy="4525920"/>
          </a:xfrm>
          <a:prstGeom prst="rect">
            <a:avLst/>
          </a:prstGeom>
          <a:noFill/>
          <a:ln w="0">
            <a:noFill/>
          </a:ln>
        </p:spPr>
        <p:txBody>
          <a:bodyPr anchor="t">
            <a:normAutofit/>
          </a:bodyPr>
          <a:lstStyle/>
          <a:p>
            <a:pPr marL="285750" indent="-285750">
              <a:lnSpc>
                <a:spcPct val="100000"/>
              </a:lnSpc>
              <a:spcBef>
                <a:spcPts val="0"/>
              </a:spcBef>
              <a:buClr>
                <a:srgbClr val="000000"/>
              </a:buClr>
              <a:buFont typeface="Arial"/>
              <a:buChar char="•"/>
            </a:pPr>
            <a:r>
              <a:rPr lang="en-US" sz="1900" b="1">
                <a:solidFill>
                  <a:srgbClr val="000000"/>
                </a:solidFill>
                <a:latin typeface="Calibri"/>
              </a:rPr>
              <a:t>Rules first, no hallucination: </a:t>
            </a:r>
            <a:r>
              <a:rPr lang="en-US" sz="1900" b="0">
                <a:solidFill>
                  <a:srgbClr val="000000"/>
                </a:solidFill>
                <a:latin typeface="Calibri"/>
              </a:rPr>
              <a:t>keyword rules beat the ML models on sparse text and always give the same answer for the same input.</a:t>
            </a:r>
          </a:p>
          <a:p>
            <a:pPr marL="285750" indent="-285750">
              <a:lnSpc>
                <a:spcPct val="100000"/>
              </a:lnSpc>
              <a:spcBef>
                <a:spcPts val="1000"/>
              </a:spcBef>
              <a:buClr>
                <a:srgbClr val="000000"/>
              </a:buClr>
              <a:buFont typeface="Arial"/>
              <a:buChar char="•"/>
            </a:pPr>
            <a:r>
              <a:rPr lang="en-US" sz="1900" b="1">
                <a:solidFill>
                  <a:srgbClr val="000000"/>
                </a:solidFill>
                <a:latin typeface="Calibri"/>
              </a:rPr>
              <a:t>Schema per Category, Journey Type and Milestone: </a:t>
            </a:r>
            <a:r>
              <a:rPr lang="en-US" sz="1900" b="0">
                <a:solidFill>
                  <a:srgbClr val="000000"/>
                </a:solidFill>
                <a:latin typeface="Calibri"/>
              </a:rPr>
              <a:t>Research shows Inventors and Patents, Placement shows Package and Recruiters, and the SQL tables never change.</a:t>
            </a:r>
          </a:p>
          <a:p>
            <a:pPr marL="285750" indent="-285750">
              <a:lnSpc>
                <a:spcPct val="100000"/>
              </a:lnSpc>
              <a:spcBef>
                <a:spcPts val="1000"/>
              </a:spcBef>
              <a:buClr>
                <a:srgbClr val="000000"/>
              </a:buClr>
              <a:buFont typeface="Arial"/>
              <a:buChar char="•"/>
            </a:pPr>
            <a:r>
              <a:rPr lang="en-US" sz="1900" b="1">
                <a:solidFill>
                  <a:srgbClr val="000000"/>
                </a:solidFill>
                <a:latin typeface="Calibri"/>
              </a:rPr>
              <a:t>Coverage of at least 0.15: </a:t>
            </a:r>
            <a:r>
              <a:rPr lang="en-US" sz="1900" b="0">
                <a:solidFill>
                  <a:srgbClr val="000000"/>
                </a:solidFill>
                <a:latin typeface="Calibri"/>
              </a:rPr>
              <a:t>keeps mostly empty columns out of the tables, so reports stay readable.</a:t>
            </a:r>
          </a:p>
          <a:p>
            <a:pPr marL="285750" indent="-285750">
              <a:lnSpc>
                <a:spcPct val="100000"/>
              </a:lnSpc>
              <a:spcBef>
                <a:spcPts val="1000"/>
              </a:spcBef>
              <a:buClr>
                <a:srgbClr val="000000"/>
              </a:buClr>
              <a:buFont typeface="Arial"/>
              <a:buChar char="•"/>
            </a:pPr>
            <a:r>
              <a:rPr lang="en-US" sz="1900" b="1">
                <a:solidFill>
                  <a:srgbClr val="000000"/>
                </a:solidFill>
                <a:latin typeface="Calibri"/>
              </a:rPr>
              <a:t>Human-in-the-loop governance: </a:t>
            </a:r>
            <a:r>
              <a:rPr lang="en-US" sz="1900" b="0">
                <a:solidFill>
                  <a:srgbClr val="000000"/>
                </a:solidFill>
                <a:latin typeface="Calibri"/>
              </a:rPr>
              <a:t>admins can move columns up or down and remove them; every saved version is kept for audit.</a:t>
            </a:r>
          </a:p>
        </p:txBody>
      </p:sp>
      <p:sp>
        <p:nvSpPr>
          <p:cNvPr id="6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327412-DA97-4573-965B-7E05C4C39BB3}"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69"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7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4D55F7F-B648-47D9-BD8C-31F55F123C43}" type="slidenum">
              <a:rPr lang="en-US" sz="1200" b="0" strike="noStrike" spc="-1">
                <a:solidFill>
                  <a:srgbClr val="898989"/>
                </a:solidFill>
                <a:latin typeface="Calibri"/>
                <a:ea typeface="Arial"/>
              </a:rPr>
              <a:t>11</a:t>
            </a:fld>
            <a:endParaRPr lang="en-US" sz="1200" b="0" strike="noStrike" spc="-1">
              <a:solidFill>
                <a:srgbClr val="000000"/>
              </a:solidFill>
              <a:latin typeface="Arial"/>
            </a:endParaRPr>
          </a:p>
        </p:txBody>
      </p:sp>
      <p:sp>
        <p:nvSpPr>
          <p:cNvPr id="71" name="Rectangle 70"/>
          <p:cNvSpPr/>
          <p:nvPr/>
        </p:nvSpPr>
        <p:spPr>
          <a:xfrm>
            <a:off x="457200" y="5200000"/>
            <a:ext cx="4064800" cy="9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2400" b="1">
                <a:solidFill>
                  <a:srgbClr val="385D8A"/>
                </a:solidFill>
                <a:latin typeface="Calibri"/>
              </a:rPr>
              <a:t>521 / 521</a:t>
            </a:r>
          </a:p>
          <a:p>
            <a:pPr marL="0" indent="0" algn="ctr">
              <a:lnSpc>
                <a:spcPct val="100000"/>
              </a:lnSpc>
              <a:spcBef>
                <a:spcPts val="0"/>
              </a:spcBef>
              <a:buNone/>
            </a:pPr>
            <a:r>
              <a:rPr lang="en-US" sz="1400" b="0">
                <a:solidFill>
                  <a:srgbClr val="000000"/>
                </a:solidFill>
                <a:latin typeface="Calibri"/>
              </a:rPr>
              <a:t>backend tests passed (Pytest)</a:t>
            </a:r>
          </a:p>
        </p:txBody>
      </p:sp>
      <p:sp>
        <p:nvSpPr>
          <p:cNvPr id="72" name="Rectangle 71"/>
          <p:cNvSpPr/>
          <p:nvPr/>
        </p:nvSpPr>
        <p:spPr>
          <a:xfrm>
            <a:off x="4622000" y="5200000"/>
            <a:ext cx="4064800" cy="950000"/>
          </a:xfrm>
          <a:prstGeom prst="rect">
            <a:avLst/>
          </a:prstGeom>
          <a:solidFill>
            <a:srgbClr val="D0D8E8"/>
          </a:solidFill>
          <a:ln w="12700">
            <a:solidFill>
              <a:srgbClr val="385D8A"/>
            </a:solidFill>
          </a:ln>
        </p:spPr>
        <p:txBody>
          <a:bodyPr lIns="54000" tIns="36000" rIns="54000" bIns="36000" rtlCol="0" anchor="ctr"/>
          <a:lstStyle/>
          <a:p>
            <a:pPr marL="0" indent="0" algn="ctr">
              <a:lnSpc>
                <a:spcPct val="100000"/>
              </a:lnSpc>
              <a:spcBef>
                <a:spcPts val="0"/>
              </a:spcBef>
              <a:buNone/>
            </a:pPr>
            <a:r>
              <a:rPr lang="en-US" sz="2400" b="1">
                <a:solidFill>
                  <a:srgbClr val="385D8A"/>
                </a:solidFill>
                <a:latin typeface="Calibri"/>
              </a:rPr>
              <a:t>238 / 238</a:t>
            </a:r>
          </a:p>
          <a:p>
            <a:pPr marL="0" indent="0" algn="ctr">
              <a:lnSpc>
                <a:spcPct val="100000"/>
              </a:lnSpc>
              <a:spcBef>
                <a:spcPts val="0"/>
              </a:spcBef>
              <a:buNone/>
            </a:pPr>
            <a:r>
              <a:rPr lang="en-US" sz="1400" b="0">
                <a:solidFill>
                  <a:srgbClr val="000000"/>
                </a:solidFill>
                <a:latin typeface="Calibri"/>
              </a:rPr>
              <a:t>frontend tests passed (Vitest)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a:rPr>
              <a:t>References</a:t>
            </a:r>
          </a:p>
        </p:txBody>
      </p:sp>
      <p:sp>
        <p:nvSpPr>
          <p:cNvPr id="73"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01D3527-BACF-4F60-B501-6E6201823E14}"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74"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75"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5B7B02F-BE9A-4F4A-9016-1368CA30752B}" type="slidenum">
              <a:rPr lang="en-US" sz="1200" b="0" strike="noStrike" spc="-1">
                <a:solidFill>
                  <a:srgbClr val="898989"/>
                </a:solidFill>
                <a:latin typeface="Calibri"/>
                <a:ea typeface="Arial"/>
              </a:rPr>
              <a:t>12</a:t>
            </a:fld>
            <a:endParaRPr lang="en-US" sz="1200" b="0" strike="noStrike" spc="-1">
              <a:solidFill>
                <a:srgbClr val="000000"/>
              </a:solidFill>
              <a:latin typeface="Arial"/>
            </a:endParaRPr>
          </a:p>
        </p:txBody>
      </p:sp>
      <p:sp>
        <p:nvSpPr>
          <p:cNvPr id="76" name="TextBox 75"/>
          <p:cNvSpPr txBox="1"/>
          <p:nvPr/>
        </p:nvSpPr>
        <p:spPr>
          <a:xfrm>
            <a:off x="457200" y="1600200"/>
            <a:ext cx="8229600" cy="4525920"/>
          </a:xfrm>
          <a:prstGeom prst="rect">
            <a:avLst/>
          </a:prstGeom>
          <a:noFill/>
        </p:spPr>
        <p:txBody>
          <a:bodyPr wrap="square" anchor="t">
            <a:spAutoFit/>
          </a:bodyPr>
          <a:lstStyle/>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Manning, C. D., Raghavan, P., &amp; Schutze, H. (2008). Introduction to Information Retrieval. Cambridge University Press.</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Devlin, J., Chang, M. W., Lee, K., &amp; Toutanova, K. (2019). BERT: Pre-training of Deep Bidirectional Transformers for Language Understanding. Proceedings of NAACL-HLT, 4171-4186.</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National Institutional Ranking Framework (NIRF), Ministry of Education, Govt. of India (2024). Data Validation Guidelines and Parameters for Higher Education Institutions.</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National Assessment and Accreditation Council (NAAC) (2023). Institutional Accreditation Manual for Autonomous Colleges and Data Verification Guidelines.</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Honnibal, M., &amp; Montani, I. (2017). spaCy 2: Natural language understanding with Bloom embeddings, convolutional neural networks and incremental parsing.</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Bizer, C., Heath, T., &amp; Berners-Lee, T. (2011). Linked Data: The story so far. Semantic Services, Interoperability and Web Applications, 205-227.</a:t>
            </a:r>
          </a:p>
          <a:p>
            <a:pPr marL="342900" indent="-342900">
              <a:lnSpc>
                <a:spcPct val="100000"/>
              </a:lnSpc>
              <a:spcBef>
                <a:spcPts val="600"/>
              </a:spcBef>
              <a:buClr>
                <a:srgbClr val="000000"/>
              </a:buClr>
              <a:buFont typeface="Arial"/>
              <a:buAutoNum type="arabicPeriod"/>
            </a:pPr>
            <a:r>
              <a:rPr lang="en-US" sz="1500" b="0">
                <a:solidFill>
                  <a:srgbClr val="000000"/>
                </a:solidFill>
                <a:latin typeface="Calibri"/>
              </a:rPr>
              <a:t>Pedregosa, F., et al. (2011). Scikit-learn: Machine learning in Python. Journal of Machine Learning Research, 12, 2825-2830.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4320"/>
            <a:ext cx="8229600" cy="114300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a:rPr>
              <a:t>Publications( proposed/ submitted)</a:t>
            </a:r>
          </a:p>
        </p:txBody>
      </p:sp>
      <p:sp>
        <p:nvSpPr>
          <p:cNvPr id="78" name="Date Placeholder 3"/>
          <p:cNvSpPr/>
          <p:nvPr/>
        </p:nvSpPr>
        <p:spPr>
          <a:xfrm>
            <a:off x="45720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376D91F-EB65-4EBC-BE8A-4FF89B9D9EA0}" type="datetime">
              <a:rPr lang="en-US" sz="1200" b="0" strike="noStrike" spc="-1">
                <a:solidFill>
                  <a:srgbClr val="898989"/>
                </a:solidFill>
                <a:latin typeface="Calibri"/>
              </a:rPr>
              <a:t>10/14/2026</a:t>
            </a:fld>
            <a:endParaRPr lang="en-US" sz="1200" b="0" strike="noStrike" spc="-1">
              <a:solidFill>
                <a:srgbClr val="000000"/>
              </a:solidFill>
              <a:latin typeface="Arial"/>
            </a:endParaRPr>
          </a:p>
        </p:txBody>
      </p:sp>
      <p:sp>
        <p:nvSpPr>
          <p:cNvPr id="79" name="Footer Placeholder 4"/>
          <p:cNvSpPr/>
          <p:nvPr/>
        </p:nvSpPr>
        <p:spPr>
          <a:xfrm>
            <a:off x="3124080" y="6356520"/>
            <a:ext cx="289584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Department of  Computer Science and Business Systems</a:t>
            </a:r>
            <a:endParaRPr lang="en-US" sz="1200" b="0" strike="noStrike" spc="-1">
              <a:solidFill>
                <a:srgbClr val="000000"/>
              </a:solidFill>
              <a:latin typeface="Arial"/>
            </a:endParaRPr>
          </a:p>
        </p:txBody>
      </p:sp>
      <p:sp>
        <p:nvSpPr>
          <p:cNvPr id="80" name="Slide Number Placeholder 5"/>
          <p:cNvSpPr/>
          <p:nvPr/>
        </p:nvSpPr>
        <p:spPr>
          <a:xfrm>
            <a:off x="6553080" y="6356520"/>
            <a:ext cx="213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1BC6D7A-F5EF-4A1D-A041-5C108268B5F1}" type="slidenum">
              <a:rPr lang="en-US" sz="1200" b="0" strike="noStrike" spc="-1">
                <a:solidFill>
                  <a:srgbClr val="898989"/>
                </a:solidFill>
                <a:latin typeface="Calibri"/>
                <a:ea typeface="Arial"/>
              </a:rPr>
              <a:t>13</a:t>
            </a:fld>
            <a:endParaRPr lang="en-US" sz="1200" b="0" strike="noStrike" spc="-1">
              <a:solidFill>
                <a:srgbClr val="000000"/>
              </a:solidFill>
              <a:latin typeface="Arial"/>
            </a:endParaRPr>
          </a:p>
        </p:txBody>
      </p:sp>
      <p:sp>
        <p:nvSpPr>
          <p:cNvPr id="81" name="TextBox 80"/>
          <p:cNvSpPr txBox="1"/>
          <p:nvPr/>
        </p:nvSpPr>
        <p:spPr>
          <a:xfrm>
            <a:off x="457200" y="1600200"/>
            <a:ext cx="8229600" cy="4525920"/>
          </a:xfrm>
          <a:prstGeom prst="rect">
            <a:avLst/>
          </a:prstGeom>
          <a:noFill/>
        </p:spPr>
        <p:txBody>
          <a:bodyPr wrap="square" anchor="t">
            <a:spAutoFit/>
          </a:bodyPr>
          <a:lstStyle/>
          <a:p>
            <a:pPr marL="0" indent="0">
              <a:lnSpc>
                <a:spcPct val="100000"/>
              </a:lnSpc>
              <a:spcBef>
                <a:spcPts val="0"/>
              </a:spcBef>
              <a:buNone/>
            </a:pPr>
            <a:r>
              <a:rPr lang="en-US" sz="1600" b="1">
                <a:solidFill>
                  <a:srgbClr val="000000"/>
                </a:solidFill>
                <a:latin typeface="Calibri"/>
              </a:rPr>
              <a:t>1. Journal paper (final preparation): </a:t>
            </a:r>
            <a:r>
              <a:rPr lang="en-US" sz="1600" b="0">
                <a:solidFill>
                  <a:srgbClr val="000000"/>
                </a:solidFill>
                <a:latin typeface="Calibri"/>
              </a:rPr>
              <a:t>"Dynamic Schema Induction and Multi-Source Attribute Mining for Institutional Journey Intelligence"</a:t>
            </a:r>
          </a:p>
          <a:p>
            <a:pPr marL="571500" indent="-228600">
              <a:lnSpc>
                <a:spcPct val="100000"/>
              </a:lnSpc>
              <a:spcBef>
                <a:spcPts val="200"/>
              </a:spcBef>
              <a:buClr>
                <a:srgbClr val="000000"/>
              </a:buClr>
              <a:buFont typeface="Arial"/>
              <a:buChar char="–"/>
            </a:pPr>
            <a:r>
              <a:rPr lang="en-US" sz="1500" b="0">
                <a:solidFill>
                  <a:srgbClr val="000000"/>
                </a:solidFill>
                <a:latin typeface="Calibri"/>
              </a:rPr>
              <a:t>Target: IEEE Transactions on Learning Technologies (Scopus Q1). Focus: coverage-gated attribute induction and schema governance over semi-structured academic activity feeds.</a:t>
            </a:r>
          </a:p>
          <a:p>
            <a:pPr marL="0" indent="0">
              <a:lnSpc>
                <a:spcPct val="100000"/>
              </a:lnSpc>
              <a:spcBef>
                <a:spcPts val="1100"/>
              </a:spcBef>
              <a:buNone/>
            </a:pPr>
            <a:r>
              <a:rPr lang="en-US" sz="1600" b="1">
                <a:solidFill>
                  <a:srgbClr val="000000"/>
                </a:solidFill>
                <a:latin typeface="Calibri"/>
              </a:rPr>
              <a:t>2. Conference paper (targeted): </a:t>
            </a:r>
            <a:r>
              <a:rPr lang="en-US" sz="1600" b="0">
                <a:solidFill>
                  <a:srgbClr val="000000"/>
                </a:solidFill>
                <a:latin typeface="Calibri"/>
              </a:rPr>
              <a:t>"Automated Academic Activity Classification and Grounded Regulatory Reporting Using Hybrid NLP Architectures"</a:t>
            </a:r>
          </a:p>
          <a:p>
            <a:pPr marL="571500" indent="-228600">
              <a:lnSpc>
                <a:spcPct val="100000"/>
              </a:lnSpc>
              <a:spcBef>
                <a:spcPts val="200"/>
              </a:spcBef>
              <a:buClr>
                <a:srgbClr val="000000"/>
              </a:buClr>
              <a:buFont typeface="Arial"/>
              <a:buChar char="–"/>
            </a:pPr>
            <a:r>
              <a:rPr lang="en-US" sz="1500" b="0">
                <a:solidFill>
                  <a:srgbClr val="000000"/>
                </a:solidFill>
                <a:latin typeface="Calibri"/>
              </a:rPr>
              <a:t>Target: IEEE ICALT 2027 (IEEE CS Press). Focus: rule-based baselines compared with LLM prompt classification for zero-fabrication compliance.</a:t>
            </a:r>
          </a:p>
          <a:p>
            <a:pPr marL="0" indent="0">
              <a:lnSpc>
                <a:spcPct val="100000"/>
              </a:lnSpc>
              <a:spcBef>
                <a:spcPts val="1100"/>
              </a:spcBef>
              <a:buNone/>
            </a:pPr>
            <a:r>
              <a:rPr lang="en-US" sz="1600" b="1">
                <a:solidFill>
                  <a:srgbClr val="000000"/>
                </a:solidFill>
                <a:latin typeface="Calibri"/>
              </a:rPr>
              <a:t>3. Patent / copyright disclosure: </a:t>
            </a:r>
            <a:r>
              <a:rPr lang="en-US" sz="1600" b="0">
                <a:solidFill>
                  <a:srgbClr val="000000"/>
                </a:solidFill>
                <a:latin typeface="Calibri"/>
              </a:rPr>
              <a:t>"A Dynamic Schema Overlay System and Method for Automated Institutional Journey Analytics"</a:t>
            </a:r>
          </a:p>
          <a:p>
            <a:pPr marL="571500" indent="-228600">
              <a:lnSpc>
                <a:spcPct val="100000"/>
              </a:lnSpc>
              <a:spcBef>
                <a:spcPts val="200"/>
              </a:spcBef>
              <a:buClr>
                <a:srgbClr val="000000"/>
              </a:buClr>
              <a:buFont typeface="Arial"/>
              <a:buChar char="–"/>
            </a:pPr>
            <a:r>
              <a:rPr lang="en-US" sz="1500" b="0">
                <a:solidFill>
                  <a:srgbClr val="000000"/>
                </a:solidFill>
                <a:latin typeface="Calibri"/>
              </a:rPr>
              <a:t>Status: drafted for review by the Institutional IPR Cell (TCE-IPR-2026-CSBS).</a:t>
            </a:r>
          </a:p>
          <a:p>
            <a:pPr marL="0" indent="0">
              <a:lnSpc>
                <a:spcPct val="100000"/>
              </a:lnSpc>
              <a:spcBef>
                <a:spcPts val="1100"/>
              </a:spcBef>
              <a:buNone/>
            </a:pPr>
            <a:r>
              <a:rPr lang="en-US" sz="1500" b="0" i="1">
                <a:solidFill>
                  <a:srgbClr val="000000"/>
                </a:solidFill>
                <a:latin typeface="Calibri"/>
              </a:rPr>
              <a:t>Authors: Shalini B. V., Department of Computer Science and Business Systems, TCE Madurai.</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2256</TotalTime>
  <Words>1696</Words>
  <Application>Microsoft Office PowerPoint</Application>
  <PresentationFormat>On-screen Show (4:3)</PresentationFormat>
  <Paragraphs>135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vt:lpstr>
      <vt:lpstr>INTELLIGENT LINKEDIN POST CLASSIFICATION AND AUTOMATED REPORTING SYSTEM Using Natural Language Processing and Dynamic Schema Induction</vt:lpstr>
      <vt:lpstr>Industry area identified</vt:lpstr>
      <vt:lpstr>Problem Statement</vt:lpstr>
      <vt:lpstr>Objectives</vt:lpstr>
      <vt:lpstr>Tools and Technologies used</vt:lpstr>
      <vt:lpstr>Module description</vt:lpstr>
      <vt:lpstr>Proposed Block Diagram</vt:lpstr>
      <vt:lpstr>Conclusion and Future Work</vt:lpstr>
      <vt:lpstr>Results and inferences (1)</vt:lpstr>
      <vt:lpstr>Results and inferences (2)</vt:lpstr>
      <vt:lpstr>Results and inferences (3)</vt:lpstr>
      <vt:lpstr>References</vt:lpstr>
      <vt:lpstr>Publications( proposed/ submitted)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LINKEDIN POST CLASSIFICATION AND AUTOMATED REPORTING SYSTEM Using Natural Language Processing and Dynamic Schema Induction</dc:title>
  <dc:creator>KABIL's LAP</dc:creator>
  <cp:lastModifiedBy>J kabileshwaran</cp:lastModifiedBy>
  <cp:revision>1</cp:revision>
  <dcterms:modified xsi:type="dcterms:W3CDTF">2026-10-14T06:59:38Z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2019-12-24T09:10:42Z</dcterms:created>
  <dc:creator>admin</dc:creator>
  <dc:description/>
  <dc:language>en-US</dc:language>
  <cp:lastModifiedBy>Admin</cp:lastModifiedBy>
  <dcterms:modified xsi:type="dcterms:W3CDTF">2026-10-13T04:31:29Z</dcterms:modified>
  <cp:revision>116</cp:revision>
  <dc:subject/>
  <dc:title>PowerPoint Presentation</dc:title>
</cp:coreProperties>
</file>