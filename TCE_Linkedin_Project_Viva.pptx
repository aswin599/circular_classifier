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6" r:id="rId9"/>
    <p:sldId id="267" r:id="rId10"/>
    <p:sldId id="271" r:id="rId11"/>
    <p:sldId id="270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63" d="100"/>
          <a:sy n="63" d="100"/>
        </p:scale>
        <p:origin x="5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latin typeface="Calibri"/>
              </a:rPr>
              <a:t>Macro-F1 of the classifiers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95B3D7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385D8A"/>
              </a:solidFill>
            </c:spPr>
            <c:extLst>
              <c:ext xmlns:c16="http://schemas.microsoft.com/office/drawing/2014/chart" uri="{C3380CC4-5D6E-409C-BE32-E72D297353CC}">
                <c16:uniqueId val="{00000001-22EC-446E-B59F-3415940FD71F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Rule-based (selected)</c:v>
                </c:pt>
                <c:pt idx="1">
                  <c:v>Logistic Regression</c:v>
                </c:pt>
                <c:pt idx="2">
                  <c:v>SVC</c:v>
                </c:pt>
                <c:pt idx="3">
                  <c:v>Multinomial NB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0.73470000000000002</c:v>
                </c:pt>
                <c:pt idx="1">
                  <c:v>0.28999999999999998</c:v>
                </c:pt>
                <c:pt idx="2">
                  <c:v>0.25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2EC-446E-B59F-3415940FD71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latin typeface="Calibri"/>
              </a:rPr>
              <a:t>Other evaluation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95B3D7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Micro-F1</c:v>
                </c:pt>
                <c:pt idx="1">
                  <c:v>Dept. accuracy</c:v>
                </c:pt>
                <c:pt idx="2">
                  <c:v>Stakeholder accuracy</c:v>
                </c:pt>
                <c:pt idx="3">
                  <c:v>Entity precision</c:v>
                </c:pt>
                <c:pt idx="4">
                  <c:v>Entity recall</c:v>
                </c:pt>
                <c:pt idx="5">
                  <c:v>Entity F1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0.83120000000000005</c:v>
                </c:pt>
                <c:pt idx="1">
                  <c:v>0.8</c:v>
                </c:pt>
                <c:pt idx="2">
                  <c:v>0.8</c:v>
                </c:pt>
                <c:pt idx="3">
                  <c:v>0.66700000000000004</c:v>
                </c:pt>
                <c:pt idx="4">
                  <c:v>1</c:v>
                </c:pt>
                <c:pt idx="5">
                  <c:v>0.8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55F-4A4B-A45A-5AF16DE370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BC934B4-F338-49C2-B160-D26EA893F46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43040" lvl="1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EC93BA7-D1F5-4D6C-BC9A-1DC68B654FB2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10/14/2026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Department of  Computer Science and Business Systems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80E7493-D80B-409D-9A01-53FDDBD3009D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3"/>
          <p:cNvSpPr/>
          <p:nvPr/>
        </p:nvSpPr>
        <p:spPr>
          <a:xfrm>
            <a:off x="30240" y="1158840"/>
            <a:ext cx="9144000" cy="5562720"/>
          </a:xfrm>
          <a:prstGeom prst="rect">
            <a:avLst/>
          </a:prstGeom>
          <a:blipFill rotWithShape="0">
            <a:blip r:embed="rId2">
              <a:alphaModFix amt="40000"/>
            </a:blip>
            <a:srcRect/>
            <a:stretch/>
          </a:blipFill>
          <a:ln w="25560">
            <a:solidFill>
              <a:srgbClr val="385D8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2720880"/>
            <a:ext cx="7772400" cy="147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sz="2200" b="1" i="0">
                <a:solidFill>
                  <a:srgbClr val="0F1E41"/>
                </a:solidFill>
                <a:latin typeface="Cambria"/>
              </a:rPr>
              <a:t>CIRCULAR MANAGEMENT AND CLASSIFICATION SYSTEM
</a:t>
            </a:r>
          </a:p>
          <a:p>
            <a:pPr algn="ctr"/>
            <a:r>
              <a:rPr sz="1500" b="0" i="1">
                <a:solidFill>
                  <a:srgbClr val="2563EB"/>
                </a:solidFill>
                <a:latin typeface="Cambria"/>
              </a:rPr>
              <a:t>An Automated System to Collect, Read, Sort, and Track College Circulars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828800" y="4190759"/>
            <a:ext cx="6400800" cy="102894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sz="1600" b="1" i="0">
                <a:solidFill>
                  <a:srgbClr val="0F1E41"/>
                </a:solidFill>
                <a:latin typeface="Cambria"/>
              </a:rPr>
              <a:t>Team Members:
</a:t>
            </a:r>
          </a:p>
          <a:p>
            <a:r>
              <a:rPr sz="1500" b="0" i="0">
                <a:solidFill>
                  <a:srgbClr val="1E293B"/>
                </a:solidFill>
                <a:latin typeface="Cambria"/>
              </a:rPr>
              <a:t>1. Aswin C (2503917762221001)
2. Thirunavukarasu S (2503917762221009)
</a:t>
            </a:r>
          </a:p>
          <a:p>
            <a:r>
              <a:rPr sz="1400" b="0" i="1">
                <a:solidFill>
                  <a:srgbClr val="64748B"/>
                </a:solidFill>
                <a:latin typeface="Cambria"/>
              </a:rPr>
              <a:t>Type of Project: Institutional Web Application</a:t>
            </a:r>
          </a:p>
        </p:txBody>
      </p:sp>
      <p:grpSp>
        <p:nvGrpSpPr>
          <p:cNvPr id="8" name="Group 6"/>
          <p:cNvGrpSpPr/>
          <p:nvPr/>
        </p:nvGrpSpPr>
        <p:grpSpPr>
          <a:xfrm>
            <a:off x="22320" y="152280"/>
            <a:ext cx="7902360" cy="981000"/>
            <a:chOff x="22320" y="152280"/>
            <a:chExt cx="7902360" cy="981000"/>
          </a:xfrm>
        </p:grpSpPr>
        <p:pic>
          <p:nvPicPr>
            <p:cNvPr id="9" name="Picture 1" descr="Description: Description: tce_logo.png"/>
            <p:cNvPicPr/>
            <p:nvPr/>
          </p:nvPicPr>
          <p:blipFill>
            <a:blip r:embed="rId3"/>
            <a:srcRect b="2901"/>
            <a:stretch/>
          </p:blipFill>
          <p:spPr>
            <a:xfrm>
              <a:off x="22320" y="152280"/>
              <a:ext cx="983160" cy="914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" name="Rectangle 4"/>
            <p:cNvSpPr/>
            <p:nvPr/>
          </p:nvSpPr>
          <p:spPr>
            <a:xfrm>
              <a:off x="838440" y="155160"/>
              <a:ext cx="7086240" cy="97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Cambria"/>
                  <a:ea typeface="Calibri"/>
                </a:rPr>
                <a:t>THIAGARAJAR COLLEGE OF ENGINEERING, MADURAI-15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Cambria"/>
                  <a:ea typeface="Calibri"/>
                </a:rPr>
                <a:t>(A Govt. Aided Autonomous Institution affiliated to Anna University)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i="1" strike="noStrike" spc="-1">
                  <a:solidFill>
                    <a:srgbClr val="000000"/>
                  </a:solidFill>
                  <a:latin typeface="Cambria"/>
                  <a:ea typeface="Calibri"/>
                </a:rPr>
                <a:t>                            - where quality and ethics matter</a:t>
              </a:r>
              <a:r>
                <a:rPr lang="en-US" sz="2000" b="0" strike="noStrike" spc="-1">
                  <a:solidFill>
                    <a:srgbClr val="000000"/>
                  </a:solidFill>
                  <a:latin typeface="Cambria"/>
                  <a:ea typeface="Calibri"/>
                </a:rPr>
                <a:t> 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" name="Straight Connector 9"/>
          <p:cNvSpPr/>
          <p:nvPr/>
        </p:nvSpPr>
        <p:spPr>
          <a:xfrm>
            <a:off x="0" y="1295280"/>
            <a:ext cx="9144000" cy="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Date Placeholder 4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Footer Placeholder 7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Department of Computer Applications, TCE Madurai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lide Number Placeholder 8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Picture 2"/>
          <p:cNvPicPr/>
          <p:nvPr/>
        </p:nvPicPr>
        <p:blipFill>
          <a:blip r:embed="rId4"/>
          <a:stretch/>
        </p:blipFill>
        <p:spPr>
          <a:xfrm>
            <a:off x="7924680" y="227160"/>
            <a:ext cx="895320" cy="752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4000" b="1">
                <a:solidFill>
                  <a:srgbClr val="0F1E41"/>
                </a:solidFill>
                <a:latin typeface="Calibri"/>
              </a:rPr>
              <a:t>Industry Area and Project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8229600" cy="3790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</a:pPr>
            <a:r>
              <a:rPr sz="2600" b="1" i="0">
                <a:solidFill>
                  <a:srgbClr val="2563EB"/>
                </a:solidFill>
                <a:latin typeface="Calibri"/>
              </a:rPr>
              <a:t>Industry Area:
</a:t>
            </a:r>
          </a:p>
          <a:p>
            <a:r>
              <a:rPr sz="2200" b="0" i="0">
                <a:solidFill>
                  <a:srgbClr val="1E293B"/>
                </a:solidFill>
                <a:latin typeface="Calibri"/>
              </a:rPr>
              <a:t>        Higher Education &amp; College Administration
        Thiagarajar College of Engineering, Madurai
</a:t>
            </a:r>
          </a:p>
          <a:p>
            <a:r>
              <a:rPr sz="2600" b="1" i="0">
                <a:solidFill>
                  <a:srgbClr val="2563EB"/>
                </a:solidFill>
                <a:latin typeface="Calibri"/>
              </a:rPr>
              <a:t>Project Scope (What it does in simple terms):
</a:t>
            </a:r>
          </a:p>
          <a:p>
            <a:r>
              <a:rPr sz="1800" b="0" i="0">
                <a:solidFill>
                  <a:srgbClr val="1E293B"/>
                </a:solidFill>
                <a:latin typeface="Calibri"/>
              </a:rPr>
              <a:t>  * Collect all official notices and circulars from the college mailbox automatically.</a:t>
            </a:r>
          </a:p>
          <a:p>
            <a:r>
              <a:rPr sz="1800" b="0" i="0">
                <a:solidFill>
                  <a:srgbClr val="1E293B"/>
                </a:solidFill>
                <a:latin typeface="Calibri"/>
              </a:rPr>
              <a:t>  * Read words inside attachments, including scanned photos and PDF documents.</a:t>
            </a:r>
          </a:p>
          <a:p>
            <a:r>
              <a:rPr sz="1800" b="0" i="0">
                <a:solidFill>
                  <a:srgbClr val="1E293B"/>
                </a:solidFill>
                <a:latin typeface="Calibri"/>
              </a:rPr>
              <a:t>  * Sort circulars into simple groups such as Exams, Fees, Holidays, and Placements.</a:t>
            </a:r>
          </a:p>
          <a:p>
            <a:r>
              <a:rPr sz="1800" b="0" i="0">
                <a:solidFill>
                  <a:srgbClr val="1E293B"/>
                </a:solidFill>
                <a:latin typeface="Calibri"/>
              </a:rPr>
              <a:t>  * Find last dates and deadlines to warn students before time runs out.</a:t>
            </a:r>
          </a:p>
          <a:p>
            <a:r>
              <a:rPr sz="1800" b="0" i="0">
                <a:solidFill>
                  <a:srgbClr val="1E293B"/>
                </a:solidFill>
                <a:latin typeface="Calibri"/>
              </a:rPr>
              <a:t>  * Provide one clean website so students and teachers can search and read any circular in seconds.</a:t>
            </a:r>
          </a:p>
        </p:txBody>
      </p:sp>
      <p:sp>
        <p:nvSpPr>
          <p:cNvPr id="18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Department of Computer Applications, TCE Madurai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4000" b="1">
                <a:solidFill>
                  <a:srgbClr val="0F1E41"/>
                </a:solidFill>
                <a:latin typeface="Calibri"/>
              </a:rPr>
              <a:t>Problem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</a:pPr>
            <a:r>
              <a:rPr sz="2200" b="1" i="0">
                <a:solidFill>
                  <a:srgbClr val="B91C1C"/>
                </a:solidFill>
                <a:latin typeface="Calibri"/>
              </a:rPr>
              <a:t>The Problem in Everyday College Life:
</a:t>
            </a:r>
          </a:p>
          <a:p>
            <a:r>
              <a:rPr sz="1700" b="0" i="0">
                <a:solidFill>
                  <a:srgbClr val="1E293B"/>
                </a:solidFill>
                <a:latin typeface="Calibri"/>
              </a:rPr>
              <a:t>  * Too Many Emails: Colleges send dozens of emails every week. Important notices get lost easily.</a:t>
            </a:r>
          </a:p>
          <a:p>
            <a:r>
              <a:rPr sz="1700" b="0" i="0">
                <a:solidFill>
                  <a:srgbClr val="1E293B"/>
                </a:solidFill>
                <a:latin typeface="Calibri"/>
              </a:rPr>
              <a:t>  * Hidden Text: Most circulars are attached as PDF files or photos of paper notices that cannot be searched.</a:t>
            </a:r>
          </a:p>
          <a:p>
            <a:r>
              <a:rPr sz="1700" b="0" i="0">
                <a:solidFill>
                  <a:srgbClr val="1E293B"/>
                </a:solidFill>
                <a:latin typeface="Calibri"/>
              </a:rPr>
              <a:t>  * Missed Deadlines: Students often miss the last date to pay exam fees or apply for scholarships.</a:t>
            </a:r>
          </a:p>
          <a:p>
            <a:r>
              <a:rPr sz="1700" b="0" i="0">
                <a:solidFill>
                  <a:srgbClr val="1E293B"/>
                </a:solidFill>
                <a:latin typeface="Calibri"/>
              </a:rPr>
              <a:t>  * Hard to Find: Searching an old notice through weeks of email takes too much time.</a:t>
            </a:r>
          </a:p>
          <a:p>
            <a:r>
              <a:rPr sz="2200" b="1" i="0">
                <a:solidFill>
                  <a:srgbClr val="2563EB"/>
                </a:solidFill>
                <a:latin typeface="Calibri"/>
              </a:rPr>
              <a:t>
Who Will Use This System:
</a:t>
            </a:r>
          </a:p>
          <a:p>
            <a:r>
              <a:rPr sz="1700" b="0" i="0">
                <a:solidFill>
                  <a:srgbClr val="1E293B"/>
                </a:solidFill>
                <a:latin typeface="Calibri"/>
              </a:rPr>
              <a:t>  * Students: Open one simple website to see all exam notices, fee alerts, and placement news.</a:t>
            </a:r>
          </a:p>
          <a:p>
            <a:r>
              <a:rPr sz="1700" b="0" i="0">
                <a:solidFill>
                  <a:srgbClr val="1E293B"/>
                </a:solidFill>
                <a:latin typeface="Calibri"/>
              </a:rPr>
              <a:t>  * Teachers and HODs: Check department circulars quickly without digging through email inboxes.</a:t>
            </a:r>
          </a:p>
          <a:p>
            <a:r>
              <a:rPr sz="1700" b="0" i="0">
                <a:solidFill>
                  <a:srgbClr val="1E293B"/>
                </a:solidFill>
                <a:latin typeface="Calibri"/>
              </a:rPr>
              <a:t>  * College Office: Share announcements with confidence that students will see them on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4000" b="1">
                <a:solidFill>
                  <a:srgbClr val="0F1E41"/>
                </a:solidFill>
                <a:latin typeface="Calibri"/>
              </a:rPr>
              <a:t>Project Objectives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850" y="1166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</a:pPr>
            <a:r>
              <a:rPr sz="1700" b="1" i="0">
                <a:solidFill>
                  <a:srgbClr val="2563EB"/>
                </a:solidFill>
                <a:latin typeface="Calibri"/>
              </a:rPr>
              <a:t>1. Automatic Email Reading: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Connect to the college mailbox (Gmail) and fetch new circular emails automatically without manual work.
</a:t>
            </a:r>
          </a:p>
          <a:p>
            <a:r>
              <a:rPr sz="1700" b="1" i="0">
                <a:solidFill>
                  <a:srgbClr val="2563EB"/>
                </a:solidFill>
                <a:latin typeface="Calibri"/>
              </a:rPr>
              <a:t>2. Smart Text Extraction (OCR):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Read printed and scanned text from PDF files, Word documents, and image files accurately.
</a:t>
            </a:r>
          </a:p>
          <a:p>
            <a:r>
              <a:rPr sz="1700" b="1" i="0">
                <a:solidFill>
                  <a:srgbClr val="2563EB"/>
                </a:solidFill>
                <a:latin typeface="Calibri"/>
              </a:rPr>
              <a:t>3. Automatic Topic Classification: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Sort each notice into simple categories like Examination, Academic, Fees, Holidays, and Placements.
</a:t>
            </a:r>
          </a:p>
          <a:p>
            <a:r>
              <a:rPr sz="1700" b="1" i="0">
                <a:solidFill>
                  <a:srgbClr val="2563EB"/>
                </a:solidFill>
                <a:latin typeface="Calibri"/>
              </a:rPr>
              <a:t>4. Urgent Deadline Detection: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Detect last dates and deadlines (like 'valid until' or 'last date to pay') and alert users before time expires.
</a:t>
            </a:r>
          </a:p>
          <a:p>
            <a:r>
              <a:rPr sz="1700" b="1" i="0">
                <a:solidFill>
                  <a:srgbClr val="2563EB"/>
                </a:solidFill>
                <a:latin typeface="Calibri"/>
              </a:rPr>
              <a:t>5. Clean and Fast Web Hub: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Build an easy-to-use website with fast search, filters, dark mode, and mobile support for everyone.
</a:t>
            </a:r>
          </a:p>
        </p:txBody>
      </p:sp>
      <p:sp>
        <p:nvSpPr>
          <p:cNvPr id="33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4000" b="1">
                <a:solidFill>
                  <a:srgbClr val="0F1E41"/>
                </a:solidFill>
                <a:latin typeface="Calibri"/>
              </a:rPr>
              <a:t>Tools and Technologies Used</a:t>
            </a:r>
          </a:p>
        </p:txBody>
      </p:sp>
      <p:sp>
        <p:nvSpPr>
          <p:cNvPr id="38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5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07871"/>
              </p:ext>
            </p:extLst>
          </p:nvPr>
        </p:nvGraphicFramePr>
        <p:xfrm>
          <a:off x="457200" y="1600200"/>
          <a:ext cx="8229600" cy="4514720"/>
        </p:xfrm>
        <a:graphic>
          <a:graphicData uri="http://schemas.openxmlformats.org/drawingml/2006/table">
            <a:tbl>
              <a:tblPr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E41"/>
                          </a:solidFill>
                          <a:latin typeface="Calibri"/>
                        </a:rPr>
                        <a:t>Area / Component</a:t>
                      </a:r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E41"/>
                          </a:solidFill>
                          <a:latin typeface="Calibri"/>
                        </a:rPr>
                        <a:t>Technology Used &amp; What It Does</a:t>
                      </a:r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Frontend (Web UI)</a:t>
                      </a:r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React 18 &amp; Tailwind CSS: Builds clean, responsive web pages that open fast on laptops and phones.</a:t>
                      </a:r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Backend (Server)</a:t>
                      </a:r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Node.js &amp; Express: A fast REST API server that manages logins, processes emails, and serves data.</a:t>
                      </a:r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Database (Storage)</a:t>
                      </a:r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MongoDB &amp; Mongoose: Reliably stores circular details, categories, extracted text, and user accounts.</a:t>
                      </a:r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93B"/>
                          </a:solidFill>
                          <a:latin typeface="Calibri"/>
                        </a:rPr>
                        <a:t>Text Reading (OCR)</a:t>
                      </a:r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Tesseract OCR &amp; PDF-Parse: Reads text from photos, scanned images, and PDF documents automatically.</a:t>
                      </a:r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4000" b="1">
                <a:solidFill>
                  <a:srgbClr val="0F1E41"/>
                </a:solidFill>
                <a:latin typeface="Calibri"/>
              </a:rPr>
              <a:t>System Modules Explained Simply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marL="285750" indent="-28575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sz="1700" b="1" i="0">
                <a:solidFill>
                  <a:srgbClr val="2563EB"/>
                </a:solidFill>
                <a:latin typeface="Calibri"/>
              </a:rPr>
              <a:t>Module 1 - Mailbox Reader: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Connects securely to Gmail via Google OAuth or IMAP, checks for new circular emails, and downloads attachments in the background.
</a:t>
            </a:r>
          </a:p>
          <a:p>
            <a:r>
              <a:rPr sz="1700" b="1" i="0">
                <a:solidFill>
                  <a:srgbClr val="2563EB"/>
                </a:solidFill>
                <a:latin typeface="Calibri"/>
              </a:rPr>
              <a:t>Module 2 - Smart OCR Reader: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Extracts written text from PDF documents, Word files, and photos so that every notice can be searched and read on screen.
</a:t>
            </a:r>
          </a:p>
          <a:p>
            <a:r>
              <a:rPr sz="1700" b="1" i="0">
                <a:solidFill>
                  <a:srgbClr val="2563EB"/>
                </a:solidFill>
                <a:latin typeface="Calibri"/>
              </a:rPr>
              <a:t>Module 3 - Automatic Classifier: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Scans the words and assigns the circular to one of 7 categories (Exams, Academic, Fees, Holidays, Placements, Events, Admin).
</a:t>
            </a:r>
          </a:p>
          <a:p>
            <a:r>
              <a:rPr sz="1700" b="1" i="0">
                <a:solidFill>
                  <a:srgbClr val="2563EB"/>
                </a:solidFill>
                <a:latin typeface="Calibri"/>
              </a:rPr>
              <a:t>Module 4 - Deadline &amp; Expiry Tracker: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Looks for dates and words like 'last date', 'valid until', or 'due date', calculates days left, and shows red warning badges.
</a:t>
            </a:r>
          </a:p>
          <a:p>
            <a:r>
              <a:rPr sz="1700" b="1" i="0">
                <a:solidFill>
                  <a:srgbClr val="2563EB"/>
                </a:solidFill>
                <a:latin typeface="Calibri"/>
              </a:rPr>
              <a:t>Module 5 - Circular Hub Web Portal: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An interactive dashboard with instant search, category filters, urgent 'Ending Today' list, dark mode, and original file downloads.
</a:t>
            </a:r>
          </a:p>
        </p:txBody>
      </p:sp>
      <p:sp>
        <p:nvSpPr>
          <p:cNvPr id="53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6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r>
              <a:rPr sz="4000" b="1">
                <a:solidFill>
                  <a:srgbClr val="0F1E41"/>
                </a:solidFill>
                <a:latin typeface="Calibri"/>
              </a:rPr>
              <a:t>Proposed System Architecture</a:t>
            </a:r>
          </a:p>
        </p:txBody>
      </p:sp>
      <p:sp>
        <p:nvSpPr>
          <p:cNvPr id="58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Picture 58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120640" cy="43891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76072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563EB"/>
                </a:solidFill>
                <a:latin typeface="Calibri"/>
              </a:rPr>
              <a:t>How Data Flows (In 3 Simple Steps):
</a:t>
            </a:r>
          </a:p>
          <a:p>
            <a:r>
              <a:rPr sz="1600" b="1" i="0">
                <a:solidFill>
                  <a:srgbClr val="0F1E41"/>
                </a:solidFill>
                <a:latin typeface="Calibri"/>
              </a:rPr>
              <a:t>1. INPUT
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Emails arrive from teachers or college offices with attached PDF files, Word docs, or photos of paper notices.
</a:t>
            </a:r>
          </a:p>
          <a:p>
            <a:r>
              <a:rPr sz="1600" b="1" i="0">
                <a:solidFill>
                  <a:srgbClr val="0F1E41"/>
                </a:solidFill>
                <a:latin typeface="Calibri"/>
              </a:rPr>
              <a:t>2. PROCESSING
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Our server reads text using OCR, matches keywords to choose the category, and detects any due date or deadline.
</a:t>
            </a:r>
          </a:p>
          <a:p>
            <a:r>
              <a:rPr sz="1600" b="1" i="0">
                <a:solidFill>
                  <a:srgbClr val="0F1E41"/>
                </a:solidFill>
                <a:latin typeface="Calibri"/>
              </a:rPr>
              <a:t>3. OUTPUT
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Circulars appear on the web dashboard instantly with search, filters, urgent badges, and download buttons.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75488" y="274320"/>
            <a:ext cx="8211312" cy="123748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3800" b="1">
                <a:solidFill>
                  <a:srgbClr val="0F1E41"/>
                </a:solidFill>
                <a:latin typeface="Calibri"/>
              </a:rPr>
              <a:t>Live System - Login &amp; Circular Hub</a:t>
            </a:r>
          </a:p>
        </p:txBody>
      </p:sp>
      <p:sp>
        <p:nvSpPr>
          <p:cNvPr id="63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Department of Computer Applications, TCE Madurai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8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Picture 65" descr="screenshot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840480" cy="2926080"/>
          </a:xfrm>
          <a:prstGeom prst="rect">
            <a:avLst/>
          </a:prstGeom>
        </p:spPr>
      </p:pic>
      <p:pic>
        <p:nvPicPr>
          <p:cNvPr id="67" name="Picture 66" descr="screensho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645920"/>
            <a:ext cx="4206240" cy="2926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4709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563EB"/>
                </a:solidFill>
                <a:latin typeface="Calibri"/>
              </a:rPr>
              <a:t>Left: Secure Login Screen -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Sign in with one click using Google or campus student credentials.
</a:t>
            </a:r>
          </a:p>
          <a:p>
            <a:r>
              <a:rPr sz="1600" b="1" i="0">
                <a:solidFill>
                  <a:srgbClr val="2563EB"/>
                </a:solidFill>
                <a:latin typeface="Calibri"/>
              </a:rPr>
              <a:t>Right: Circular Hub Dashboard -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Centralized view showing all notices sorted by date, category badge, and priority tag.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3800" b="1">
                <a:solidFill>
                  <a:srgbClr val="0F1E41"/>
                </a:solidFill>
                <a:latin typeface="Calibri"/>
              </a:rPr>
              <a:t>Live System - Notice View &amp; Deadlines</a:t>
            </a:r>
          </a:p>
        </p:txBody>
      </p:sp>
      <p:sp>
        <p:nvSpPr>
          <p:cNvPr id="68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Department of Computer Applications, TCE Madurai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9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Picture 70" descr="screensho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931920" cy="2926080"/>
          </a:xfrm>
          <a:prstGeom prst="rect">
            <a:avLst/>
          </a:prstGeom>
        </p:spPr>
      </p:pic>
      <p:pic>
        <p:nvPicPr>
          <p:cNvPr id="72" name="Picture 71" descr="screenshot_ending_to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45920"/>
            <a:ext cx="4114800" cy="29260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57200" y="4709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563EB"/>
                </a:solidFill>
                <a:latin typeface="Calibri"/>
              </a:rPr>
              <a:t>Left: Full Notice View -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Clicking any circular shows complete extracted text, sender info, and allows attachment download.
</a:t>
            </a:r>
          </a:p>
          <a:p>
            <a:r>
              <a:rPr sz="1600" b="1" i="0">
                <a:solidFill>
                  <a:srgbClr val="B91C1C"/>
                </a:solidFill>
                <a:latin typeface="Calibri"/>
              </a:rPr>
              <a:t>Right: Urgent 'Ending Today' View -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Instantly filters notices with deadlines today so students never miss fee or registration 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4000" b="1">
                <a:solidFill>
                  <a:srgbClr val="0F1E41"/>
                </a:solidFill>
                <a:latin typeface="Calibri"/>
              </a:rPr>
              <a:t>Results and System Performance</a:t>
            </a:r>
          </a:p>
        </p:txBody>
      </p:sp>
      <p:sp>
        <p:nvSpPr>
          <p:cNvPr id="68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Department of Computer Applications, TCE Madurai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1" name="Chart 70"/>
          <p:cNvGraphicFramePr>
            <a:graphicFrameLocks noGrp="1"/>
          </p:cNvGraphicFramePr>
          <p:nvPr/>
        </p:nvGraphicFramePr>
        <p:xfrm>
          <a:off x="457200" y="1600200"/>
          <a:ext cx="4900000" cy="4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5500000" y="1600200"/>
            <a:ext cx="3186800" cy="4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2000" b="1" i="0">
                <a:solidFill>
                  <a:srgbClr val="2563EB"/>
                </a:solidFill>
                <a:latin typeface="Calibri"/>
              </a:rPr>
              <a:t>What The Results Show:
</a:t>
            </a:r>
          </a:p>
          <a:p>
            <a:r>
              <a:rPr sz="1500" b="1" i="0">
                <a:solidFill>
                  <a:srgbClr val="0F1E41"/>
                </a:solidFill>
                <a:latin typeface="Calibri"/>
              </a:rPr>
              <a:t>  * High Classification Accuracy (83.1% F1):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The system sorts circulars into categories with 80-83% accuracy without making up categories.</a:t>
            </a:r>
          </a:p>
          <a:p>
            <a:r>
              <a:rPr sz="1500" b="1" i="0">
                <a:solidFill>
                  <a:srgbClr val="0F1E41"/>
                </a:solidFill>
                <a:latin typeface="Calibri"/>
              </a:rPr>
              <a:t>  * Department Recognition (80%):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Correctly identifies the issuing department (Exam Office, Placement Cell, Dean, etc.).</a:t>
            </a:r>
          </a:p>
          <a:p>
            <a:r>
              <a:rPr sz="1500" b="1" i="0">
                <a:solidFill>
                  <a:srgbClr val="0F1E41"/>
                </a:solidFill>
                <a:latin typeface="Calibri"/>
              </a:rPr>
              <a:t>  * Perfect Recall (1.0):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Finds every real entity and deadline in the text so critical dates are never overlooked.</a:t>
            </a:r>
          </a:p>
          <a:p>
            <a:r>
              <a:rPr sz="1500" b="1" i="0">
                <a:solidFill>
                  <a:srgbClr val="0F1E41"/>
                </a:solidFill>
                <a:latin typeface="Calibri"/>
              </a:rPr>
              <a:t>  * Lightning Fast (&lt; 0.2s):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Search and filter results return in less than half a second.</a:t>
            </a:r>
          </a:p>
          <a:p>
            <a:r>
              <a:rPr sz="1500" b="1" i="0">
                <a:solidFill>
                  <a:srgbClr val="0F1E41"/>
                </a:solidFill>
                <a:latin typeface="Calibri"/>
              </a:rPr>
              <a:t>  * Predictable &amp; Safe: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Rule-based matching always gives the exact same result for the same notice with zero hallucination.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4000" b="1">
                <a:solidFill>
                  <a:srgbClr val="0F1E41"/>
                </a:solidFill>
                <a:latin typeface="Calibri"/>
              </a:rPr>
              <a:t>Why This System Helps Our College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1508760"/>
            <a:ext cx="8229600" cy="3520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/>
              <a:buChar char="•"/>
            </a:pPr>
            <a:r>
              <a:rPr sz="1600" b="1" i="0">
                <a:solidFill>
                  <a:srgbClr val="2563EB"/>
                </a:solidFill>
                <a:latin typeface="Calibri"/>
              </a:rPr>
              <a:t>1. No More Missed Deadlines: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Students get clear red alerts before fee payments, hall ticket collections, or scholarship deadlines expire.</a:t>
            </a:r>
          </a:p>
          <a:p>
            <a:r>
              <a:rPr sz="1600" b="1" i="0">
                <a:solidFill>
                  <a:srgbClr val="2563EB"/>
                </a:solidFill>
                <a:latin typeface="Calibri"/>
              </a:rPr>
              <a:t>2. Reads Photos and Scans: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Even if a notice is posted as a cell phone photo of a paper circular, our OCR reads the text easily.</a:t>
            </a:r>
          </a:p>
          <a:p>
            <a:r>
              <a:rPr sz="1600" b="1" i="0">
                <a:solidFill>
                  <a:srgbClr val="2563EB"/>
                </a:solidFill>
                <a:latin typeface="Calibri"/>
              </a:rPr>
              <a:t>3. Stops Email Overload: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Students and faculty can check one clean, organized website instead of wading through hundreds of emails.</a:t>
            </a:r>
          </a:p>
          <a:p>
            <a:r>
              <a:rPr sz="1600" b="1" i="0">
                <a:solidFill>
                  <a:srgbClr val="2563EB"/>
                </a:solidFill>
                <a:latin typeface="Calibri"/>
              </a:rPr>
              <a:t>4. Fast Search in Seconds: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Find any past circular by typing just one word (e.g., 'timetable', 'tcs', 'fee', 'sports').</a:t>
            </a:r>
          </a:p>
          <a:p>
            <a:r>
              <a:rPr sz="1600" b="1" i="0">
                <a:solidFill>
                  <a:srgbClr val="2563EB"/>
                </a:solidFill>
                <a:latin typeface="Calibri"/>
              </a:rPr>
              <a:t>5. Role-Based Security: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Separate logins for Students and HOD/Admin ensure college communications remain authentic and safe.</a:t>
            </a:r>
          </a:p>
        </p:txBody>
      </p:sp>
      <p:sp>
        <p:nvSpPr>
          <p:cNvPr id="68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Department of Computer Applications, TCE Madurai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57200" y="5200000"/>
            <a:ext cx="4064800" cy="950000"/>
          </a:xfrm>
          <a:prstGeom prst="rect">
            <a:avLst/>
          </a:prstGeom>
          <a:solidFill>
            <a:srgbClr val="D0D8E8"/>
          </a:solidFill>
          <a:ln w="12700">
            <a:solidFill>
              <a:srgbClr val="385D8A"/>
            </a:solidFill>
          </a:ln>
        </p:spPr>
        <p:txBody>
          <a:bodyPr lIns="54000" tIns="36000" rIns="54000" bIns="36000" rtlCol="0" anchor="ctr"/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521 / 521</a:t>
            </a:r>
          </a:p>
          <a:p>
            <a:r>
              <a:rPr sz="1400" b="1">
                <a:solidFill>
                  <a:srgbClr val="FFFFFF"/>
                </a:solidFill>
                <a:latin typeface="Calibri"/>
              </a:rPr>
              <a:t>Backend API Tests Passed (Pytest)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22000" y="5200000"/>
            <a:ext cx="4064800" cy="950000"/>
          </a:xfrm>
          <a:prstGeom prst="rect">
            <a:avLst/>
          </a:prstGeom>
          <a:solidFill>
            <a:srgbClr val="D0D8E8"/>
          </a:solidFill>
          <a:ln w="12700">
            <a:solidFill>
              <a:srgbClr val="385D8A"/>
            </a:solidFill>
          </a:ln>
        </p:spPr>
        <p:txBody>
          <a:bodyPr lIns="54000" tIns="36000" rIns="54000" bIns="36000" rtlCol="0" anchor="ctr"/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238 / 238</a:t>
            </a:r>
          </a:p>
          <a:p>
            <a:r>
              <a:rPr sz="1400" b="1">
                <a:solidFill>
                  <a:srgbClr val="FFFFFF"/>
                </a:solidFill>
                <a:latin typeface="Calibri"/>
              </a:rPr>
              <a:t>Frontend UI Tests Passed (Vitest)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4000" b="1">
                <a:solidFill>
                  <a:srgbClr val="0F1E41"/>
                </a:solidFill>
                <a:latin typeface="Calibri"/>
              </a:rPr>
              <a:t>Conclusion and Future Plans</a:t>
            </a:r>
          </a:p>
        </p:txBody>
      </p:sp>
      <p:sp>
        <p:nvSpPr>
          <p:cNvPr id="73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Department of Computer Applications, TCE Madurai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AutoNum type="arabicPeriod"/>
            </a:pPr>
            <a:r>
              <a:rPr sz="2200" b="1" i="0">
                <a:solidFill>
                  <a:srgbClr val="2563EB"/>
                </a:solidFill>
                <a:latin typeface="Calibri"/>
              </a:rPr>
              <a:t>Conclusion:
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  * We built and tested a complete, working Circular Management System for Thiagarajar College of Engineering.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  * Manual searching through crowded email inboxes is replaced by automatic email syncing, OCR, and smart sorting.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  * Students stay informed with deadline alerts, avoiding late fee fines and missed academic opportunities.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  * The system is fast, secure, fully responsive on mobile phones, and verified with 750+ passing tests.</a:t>
            </a:r>
          </a:p>
          <a:p>
            <a:r>
              <a:rPr sz="2200" b="1" i="0">
                <a:solidFill>
                  <a:srgbClr val="166534"/>
                </a:solidFill>
                <a:latin typeface="Calibri"/>
              </a:rPr>
              <a:t>
Future Plans:
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  * Mobile Push &amp; WhatsApp Alerts: Send urgent deadline reminders directly to student phones.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  * Bilingual Support: Automatically read and translate Tamil and English circulars.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  * Voice Search: Allow students to search notices by speaking naturally into their phone.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sz="4000" b="1">
                <a:solidFill>
                  <a:srgbClr val="0F1E41"/>
                </a:solidFill>
                <a:latin typeface="Calibri"/>
              </a:rPr>
              <a:t>References</a:t>
            </a:r>
          </a:p>
        </p:txBody>
      </p:sp>
      <p:sp>
        <p:nvSpPr>
          <p:cNvPr id="78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10/15/2026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Department of Computer Applications, TCE Madurai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>
                <a:solidFill>
                  <a:srgbClr val="64748B"/>
                </a:solidFill>
                <a:latin typeface="Calibri"/>
              </a:rPr>
              <a:t>13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0" i="0">
                <a:solidFill>
                  <a:srgbClr val="1E293B"/>
                </a:solidFill>
                <a:latin typeface="Calibri"/>
              </a:rPr>
              <a:t>1. Smith, R. (2007). An Overview of the Tesseract OCR Engine. Ninth International Conference on Document Analysis and Recognition (ICDAR).
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2. Manning, C. D., Raghavan, P., &amp; Schutze, H. (2008). Introduction to Information Retrieval. Cambridge University Press.
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3. Banko, M., et al. (2007). Open Information Extraction from the Web. International Joint Conference on Artificial Intelligence (IJCAI).
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4. Chodorow, K. (2013). MongoDB: The Definitive Guide. O'Reilly Media.
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5. Banks, A., &amp; Porcello, E. (2020). Learning React: Modern Patterns for Developing React Applications. O'Reilly Media.
</a:t>
            </a:r>
          </a:p>
          <a:p>
            <a:r>
              <a:rPr sz="1600" b="0" i="0">
                <a:solidFill>
                  <a:srgbClr val="1E293B"/>
                </a:solidFill>
                <a:latin typeface="Calibri"/>
              </a:rPr>
              <a:t>6. Thiagarajar College of Engineering (2026). Institutional Academic Regulations and Communication Guidelines.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2256</TotalTime>
  <Words>1696</Words>
  <Application>Microsoft Office PowerPoint</Application>
  <PresentationFormat>On-screen Show (4:3)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</vt:lpstr>
      <vt:lpstr>INTELLIGENT LINKEDIN POST CLASSIFICATION AND AUTOMATED REPORTING SYSTEM Using Natural Language Processing and Dynamic Schema Induction</vt:lpstr>
      <vt:lpstr>Industry area identified</vt:lpstr>
      <vt:lpstr>Problem Statement</vt:lpstr>
      <vt:lpstr>Objectives</vt:lpstr>
      <vt:lpstr>Tools and Technologies used</vt:lpstr>
      <vt:lpstr>Module description</vt:lpstr>
      <vt:lpstr>Proposed Block Diagram</vt:lpstr>
      <vt:lpstr>Conclusion and Future Work</vt:lpstr>
      <vt:lpstr>Results and inferences (1)</vt:lpstr>
      <vt:lpstr>Results and inferences (2)</vt:lpstr>
      <vt:lpstr>Results and inferences (3)</vt:lpstr>
      <vt:lpstr>References</vt:lpstr>
      <vt:lpstr>Publications( proposed/ submitted)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LINKEDIN POST CLASSIFICATION AND AUTOMATED REPORTING SYSTEM Using Natural Language Processing and Dynamic Schema Induction</dc:title>
  <dc:creator>KABIL's LAP</dc:creator>
  <cp:lastModifiedBy>J kabileshwaran</cp:lastModifiedBy>
  <cp:revision>1</cp:revision>
  <dcterms:modified xsi:type="dcterms:W3CDTF">2026-10-14T06:59:38Z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2019-12-24T09:10:42Z</dcterms:created>
  <dc:creator>admin</dc:creator>
  <dc:description/>
  <dc:language>en-US</dc:language>
  <cp:lastModifiedBy>Admin</cp:lastModifiedBy>
  <dcterms:modified xsi:type="dcterms:W3CDTF">2026-10-13T04:31:29Z</dcterms:modified>
  <cp:revision>116</cp:revision>
  <dc:subject/>
  <dc:title>PowerPoint Presentation</dc:title>
</cp:coreProperties>
</file>